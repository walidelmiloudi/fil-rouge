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40392" y="-2059010"/>
            <a:ext cx="5490686" cy="5490686"/>
            <a:chOff x="0" y="0"/>
            <a:chExt cx="7320915" cy="73209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0915" cy="7320915"/>
            </a:xfrm>
            <a:custGeom>
              <a:avLst/>
              <a:gdLst/>
              <a:ahLst/>
              <a:cxnLst/>
              <a:rect r="r" b="b" t="t" l="l"/>
              <a:pathLst>
                <a:path h="7320915" w="7320915">
                  <a:moveTo>
                    <a:pt x="0" y="3660521"/>
                  </a:moveTo>
                  <a:cubicBezTo>
                    <a:pt x="0" y="1638808"/>
                    <a:pt x="1638808" y="0"/>
                    <a:pt x="3660521" y="0"/>
                  </a:cubicBezTo>
                  <a:cubicBezTo>
                    <a:pt x="5682235" y="0"/>
                    <a:pt x="7320915" y="1638808"/>
                    <a:pt x="7320915" y="3660521"/>
                  </a:cubicBezTo>
                  <a:cubicBezTo>
                    <a:pt x="7320915" y="5682235"/>
                    <a:pt x="5682107" y="7320915"/>
                    <a:pt x="3660521" y="7320915"/>
                  </a:cubicBezTo>
                  <a:cubicBezTo>
                    <a:pt x="1638935" y="7320915"/>
                    <a:pt x="0" y="5682107"/>
                    <a:pt x="0" y="3660521"/>
                  </a:cubicBezTo>
                  <a:close/>
                </a:path>
              </a:pathLst>
            </a:custGeom>
            <a:solidFill>
              <a:srgbClr val="2A2A4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1782566"/>
            <a:ext cx="13543845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RAPPORT DE PROJET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2434723"/>
            <a:ext cx="13543845" cy="218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GetClose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577" y="4499343"/>
            <a:ext cx="14916512" cy="94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CCCCD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Marketplace E-Commerce Multi-Vendeurs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8137" y="5696588"/>
            <a:ext cx="6863363" cy="54912"/>
            <a:chOff x="0" y="0"/>
            <a:chExt cx="9151150" cy="73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1112" cy="73152"/>
            </a:xfrm>
            <a:custGeom>
              <a:avLst/>
              <a:gdLst/>
              <a:ahLst/>
              <a:cxnLst/>
              <a:rect r="r" b="b" t="t" l="l"/>
              <a:pathLst>
                <a:path h="73152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89577" y="5969222"/>
            <a:ext cx="14916512" cy="105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AAABB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Technologie : Laravel 11 · PostgreSQL · Stripe · Tailwind CSS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AAABB"/>
                </a:solidFill>
                <a:latin typeface="Calibri (MS)"/>
                <a:ea typeface="Calibri (MS)"/>
                <a:cs typeface="Calibri (MS)"/>
                <a:sym typeface="Calibri (MS)"/>
              </a:rPr>
              <a:t>Date : Avril 2026  ·  Version : 1.0.0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9577" y="8920467"/>
            <a:ext cx="14916512" cy="9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i="true">
                <a:solidFill>
                  <a:srgbClr val="99888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Rapprocher les vendeurs locaux de leurs clients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647206"/>
            <a:chOff x="0" y="0"/>
            <a:chExt cx="24396967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196338"/>
            </a:xfrm>
            <a:custGeom>
              <a:avLst/>
              <a:gdLst/>
              <a:ahLst/>
              <a:cxnLst/>
              <a:rect r="r" b="b" t="t" l="l"/>
              <a:pathLst>
                <a:path h="219633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234534"/>
            <a:ext cx="13543845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Résumé Exécutif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910315"/>
            <a:ext cx="11484835" cy="161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GetClose est une marketplace e-commerce multi-vendeurs connectant les vendeurs locaux avec leurs clients. La plateforme permet aux vendeurs de créer des boutiques, gérer leurs produits, traiter les commandes et gérer leurs paiements.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8603" y="3765318"/>
            <a:ext cx="5097951" cy="2146706"/>
            <a:chOff x="0" y="0"/>
            <a:chExt cx="6797269" cy="28622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6771894" cy="2836926"/>
            </a:xfrm>
            <a:custGeom>
              <a:avLst/>
              <a:gdLst/>
              <a:ahLst/>
              <a:cxnLst/>
              <a:rect r="r" b="b" t="t" l="l"/>
              <a:pathLst>
                <a:path h="2836926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97294" cy="2862326"/>
            </a:xfrm>
            <a:custGeom>
              <a:avLst/>
              <a:gdLst/>
              <a:ahLst/>
              <a:cxnLst/>
              <a:rect r="r" b="b" t="t" l="l"/>
              <a:pathLst>
                <a:path h="2862326" w="6797294">
                  <a:moveTo>
                    <a:pt x="12700" y="0"/>
                  </a:moveTo>
                  <a:lnTo>
                    <a:pt x="6784594" y="0"/>
                  </a:lnTo>
                  <a:cubicBezTo>
                    <a:pt x="6791578" y="0"/>
                    <a:pt x="6797294" y="5715"/>
                    <a:pt x="6797294" y="12700"/>
                  </a:cubicBezTo>
                  <a:lnTo>
                    <a:pt x="6797294" y="2849626"/>
                  </a:lnTo>
                  <a:cubicBezTo>
                    <a:pt x="6797294" y="2856611"/>
                    <a:pt x="6791578" y="2862326"/>
                    <a:pt x="6784594" y="2862326"/>
                  </a:cubicBezTo>
                  <a:lnTo>
                    <a:pt x="12700" y="2862326"/>
                  </a:lnTo>
                  <a:cubicBezTo>
                    <a:pt x="5715" y="2862326"/>
                    <a:pt x="0" y="2856611"/>
                    <a:pt x="0" y="28496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9626"/>
                  </a:lnTo>
                  <a:lnTo>
                    <a:pt x="12700" y="2849626"/>
                  </a:lnTo>
                  <a:lnTo>
                    <a:pt x="12700" y="2836926"/>
                  </a:lnTo>
                  <a:lnTo>
                    <a:pt x="6784594" y="2836926"/>
                  </a:lnTo>
                  <a:lnTo>
                    <a:pt x="6784594" y="2849626"/>
                  </a:lnTo>
                  <a:lnTo>
                    <a:pt x="6771894" y="2849626"/>
                  </a:lnTo>
                  <a:lnTo>
                    <a:pt x="6771894" y="12700"/>
                  </a:lnTo>
                  <a:lnTo>
                    <a:pt x="6784594" y="12700"/>
                  </a:lnTo>
                  <a:lnTo>
                    <a:pt x="67845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137" y="3774853"/>
            <a:ext cx="82363" cy="2127647"/>
            <a:chOff x="0" y="0"/>
            <a:chExt cx="109817" cy="2836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55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95479" y="3910213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Plateforme Complète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5479" y="4546968"/>
            <a:ext cx="4621473" cy="117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Solution full-stack avec 3 rôles utilisateurs distincts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47926" y="3765318"/>
            <a:ext cx="5097951" cy="2146706"/>
            <a:chOff x="0" y="0"/>
            <a:chExt cx="6797269" cy="2862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6771894" cy="2836926"/>
            </a:xfrm>
            <a:custGeom>
              <a:avLst/>
              <a:gdLst/>
              <a:ahLst/>
              <a:cxnLst/>
              <a:rect r="r" b="b" t="t" l="l"/>
              <a:pathLst>
                <a:path h="2836926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7294" cy="2862326"/>
            </a:xfrm>
            <a:custGeom>
              <a:avLst/>
              <a:gdLst/>
              <a:ahLst/>
              <a:cxnLst/>
              <a:rect r="r" b="b" t="t" l="l"/>
              <a:pathLst>
                <a:path h="2862326" w="6797294">
                  <a:moveTo>
                    <a:pt x="12700" y="0"/>
                  </a:moveTo>
                  <a:lnTo>
                    <a:pt x="6784594" y="0"/>
                  </a:lnTo>
                  <a:cubicBezTo>
                    <a:pt x="6791578" y="0"/>
                    <a:pt x="6797294" y="5715"/>
                    <a:pt x="6797294" y="12700"/>
                  </a:cubicBezTo>
                  <a:lnTo>
                    <a:pt x="6797294" y="2849626"/>
                  </a:lnTo>
                  <a:cubicBezTo>
                    <a:pt x="6797294" y="2856611"/>
                    <a:pt x="6791578" y="2862326"/>
                    <a:pt x="6784594" y="2862326"/>
                  </a:cubicBezTo>
                  <a:lnTo>
                    <a:pt x="12700" y="2862326"/>
                  </a:lnTo>
                  <a:cubicBezTo>
                    <a:pt x="5715" y="2862326"/>
                    <a:pt x="0" y="2856611"/>
                    <a:pt x="0" y="28496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9626"/>
                  </a:lnTo>
                  <a:lnTo>
                    <a:pt x="12700" y="2849626"/>
                  </a:lnTo>
                  <a:lnTo>
                    <a:pt x="12700" y="2836926"/>
                  </a:lnTo>
                  <a:lnTo>
                    <a:pt x="6784594" y="2836926"/>
                  </a:lnTo>
                  <a:lnTo>
                    <a:pt x="6784594" y="2849626"/>
                  </a:lnTo>
                  <a:lnTo>
                    <a:pt x="6771894" y="2849626"/>
                  </a:lnTo>
                  <a:lnTo>
                    <a:pt x="6771894" y="12700"/>
                  </a:lnTo>
                  <a:lnTo>
                    <a:pt x="6784594" y="12700"/>
                  </a:lnTo>
                  <a:lnTo>
                    <a:pt x="67845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57461" y="3774853"/>
            <a:ext cx="82363" cy="2127647"/>
            <a:chOff x="0" y="0"/>
            <a:chExt cx="109817" cy="28368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855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54803" y="3910213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Paiement Stripe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54803" y="4546968"/>
            <a:ext cx="4621473" cy="117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Intégration passerelle de paiement sécurisée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207250" y="3765318"/>
            <a:ext cx="5097951" cy="2146706"/>
            <a:chOff x="0" y="0"/>
            <a:chExt cx="6797269" cy="286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6771894" cy="2836926"/>
            </a:xfrm>
            <a:custGeom>
              <a:avLst/>
              <a:gdLst/>
              <a:ahLst/>
              <a:cxnLst/>
              <a:rect r="r" b="b" t="t" l="l"/>
              <a:pathLst>
                <a:path h="2836926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97294" cy="2862326"/>
            </a:xfrm>
            <a:custGeom>
              <a:avLst/>
              <a:gdLst/>
              <a:ahLst/>
              <a:cxnLst/>
              <a:rect r="r" b="b" t="t" l="l"/>
              <a:pathLst>
                <a:path h="2862326" w="6797294">
                  <a:moveTo>
                    <a:pt x="12700" y="0"/>
                  </a:moveTo>
                  <a:lnTo>
                    <a:pt x="6784594" y="0"/>
                  </a:lnTo>
                  <a:cubicBezTo>
                    <a:pt x="6791578" y="0"/>
                    <a:pt x="6797294" y="5715"/>
                    <a:pt x="6797294" y="12700"/>
                  </a:cubicBezTo>
                  <a:lnTo>
                    <a:pt x="6797294" y="2849626"/>
                  </a:lnTo>
                  <a:cubicBezTo>
                    <a:pt x="6797294" y="2856611"/>
                    <a:pt x="6791578" y="2862326"/>
                    <a:pt x="6784594" y="2862326"/>
                  </a:cubicBezTo>
                  <a:lnTo>
                    <a:pt x="12700" y="2862326"/>
                  </a:lnTo>
                  <a:cubicBezTo>
                    <a:pt x="5715" y="2862326"/>
                    <a:pt x="0" y="2856611"/>
                    <a:pt x="0" y="28496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9626"/>
                  </a:lnTo>
                  <a:lnTo>
                    <a:pt x="12700" y="2849626"/>
                  </a:lnTo>
                  <a:lnTo>
                    <a:pt x="12700" y="2836926"/>
                  </a:lnTo>
                  <a:lnTo>
                    <a:pt x="6784594" y="2836926"/>
                  </a:lnTo>
                  <a:lnTo>
                    <a:pt x="6784594" y="2849626"/>
                  </a:lnTo>
                  <a:lnTo>
                    <a:pt x="6771894" y="2849626"/>
                  </a:lnTo>
                  <a:lnTo>
                    <a:pt x="6771894" y="12700"/>
                  </a:lnTo>
                  <a:lnTo>
                    <a:pt x="6784594" y="12700"/>
                  </a:lnTo>
                  <a:lnTo>
                    <a:pt x="67845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16784" y="3774853"/>
            <a:ext cx="82363" cy="2127647"/>
            <a:chOff x="0" y="0"/>
            <a:chExt cx="109817" cy="28368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855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514126" y="3910213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Système Financier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14126" y="4546968"/>
            <a:ext cx="4621473" cy="117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Tableau de bord, ledger et suivi des soldes vendeurs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8603" y="6236122"/>
            <a:ext cx="5097951" cy="2146706"/>
            <a:chOff x="0" y="0"/>
            <a:chExt cx="6797269" cy="28622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6771894" cy="2836926"/>
            </a:xfrm>
            <a:custGeom>
              <a:avLst/>
              <a:gdLst/>
              <a:ahLst/>
              <a:cxnLst/>
              <a:rect r="r" b="b" t="t" l="l"/>
              <a:pathLst>
                <a:path h="2836926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97294" cy="2862326"/>
            </a:xfrm>
            <a:custGeom>
              <a:avLst/>
              <a:gdLst/>
              <a:ahLst/>
              <a:cxnLst/>
              <a:rect r="r" b="b" t="t" l="l"/>
              <a:pathLst>
                <a:path h="2862326" w="6797294">
                  <a:moveTo>
                    <a:pt x="12700" y="0"/>
                  </a:moveTo>
                  <a:lnTo>
                    <a:pt x="6784594" y="0"/>
                  </a:lnTo>
                  <a:cubicBezTo>
                    <a:pt x="6791578" y="0"/>
                    <a:pt x="6797294" y="5715"/>
                    <a:pt x="6797294" y="12700"/>
                  </a:cubicBezTo>
                  <a:lnTo>
                    <a:pt x="6797294" y="2849626"/>
                  </a:lnTo>
                  <a:cubicBezTo>
                    <a:pt x="6797294" y="2856611"/>
                    <a:pt x="6791578" y="2862326"/>
                    <a:pt x="6784594" y="2862326"/>
                  </a:cubicBezTo>
                  <a:lnTo>
                    <a:pt x="12700" y="2862326"/>
                  </a:lnTo>
                  <a:cubicBezTo>
                    <a:pt x="5715" y="2862326"/>
                    <a:pt x="0" y="2856611"/>
                    <a:pt x="0" y="28496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9626"/>
                  </a:lnTo>
                  <a:lnTo>
                    <a:pt x="12700" y="2849626"/>
                  </a:lnTo>
                  <a:lnTo>
                    <a:pt x="12700" y="2836926"/>
                  </a:lnTo>
                  <a:lnTo>
                    <a:pt x="6784594" y="2836926"/>
                  </a:lnTo>
                  <a:lnTo>
                    <a:pt x="6784594" y="2849626"/>
                  </a:lnTo>
                  <a:lnTo>
                    <a:pt x="6771894" y="2849626"/>
                  </a:lnTo>
                  <a:lnTo>
                    <a:pt x="6771894" y="12700"/>
                  </a:lnTo>
                  <a:lnTo>
                    <a:pt x="6784594" y="12700"/>
                  </a:lnTo>
                  <a:lnTo>
                    <a:pt x="67845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8137" y="6245657"/>
            <a:ext cx="82363" cy="2127647"/>
            <a:chOff x="0" y="0"/>
            <a:chExt cx="109817" cy="28368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855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95479" y="6381017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Responsive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5479" y="7017772"/>
            <a:ext cx="4621473" cy="117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 mobile-first avec Tailwind CSS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647926" y="6236122"/>
            <a:ext cx="5097951" cy="2146706"/>
            <a:chOff x="0" y="0"/>
            <a:chExt cx="6797269" cy="28622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6771894" cy="2836926"/>
            </a:xfrm>
            <a:custGeom>
              <a:avLst/>
              <a:gdLst/>
              <a:ahLst/>
              <a:cxnLst/>
              <a:rect r="r" b="b" t="t" l="l"/>
              <a:pathLst>
                <a:path h="2836926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97294" cy="2862326"/>
            </a:xfrm>
            <a:custGeom>
              <a:avLst/>
              <a:gdLst/>
              <a:ahLst/>
              <a:cxnLst/>
              <a:rect r="r" b="b" t="t" l="l"/>
              <a:pathLst>
                <a:path h="2862326" w="6797294">
                  <a:moveTo>
                    <a:pt x="12700" y="0"/>
                  </a:moveTo>
                  <a:lnTo>
                    <a:pt x="6784594" y="0"/>
                  </a:lnTo>
                  <a:cubicBezTo>
                    <a:pt x="6791578" y="0"/>
                    <a:pt x="6797294" y="5715"/>
                    <a:pt x="6797294" y="12700"/>
                  </a:cubicBezTo>
                  <a:lnTo>
                    <a:pt x="6797294" y="2849626"/>
                  </a:lnTo>
                  <a:cubicBezTo>
                    <a:pt x="6797294" y="2856611"/>
                    <a:pt x="6791578" y="2862326"/>
                    <a:pt x="6784594" y="2862326"/>
                  </a:cubicBezTo>
                  <a:lnTo>
                    <a:pt x="12700" y="2862326"/>
                  </a:lnTo>
                  <a:cubicBezTo>
                    <a:pt x="5715" y="2862326"/>
                    <a:pt x="0" y="2856611"/>
                    <a:pt x="0" y="28496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9626"/>
                  </a:lnTo>
                  <a:lnTo>
                    <a:pt x="12700" y="2849626"/>
                  </a:lnTo>
                  <a:lnTo>
                    <a:pt x="12700" y="2836926"/>
                  </a:lnTo>
                  <a:lnTo>
                    <a:pt x="6784594" y="2836926"/>
                  </a:lnTo>
                  <a:lnTo>
                    <a:pt x="6784594" y="2849626"/>
                  </a:lnTo>
                  <a:lnTo>
                    <a:pt x="6771894" y="2849626"/>
                  </a:lnTo>
                  <a:lnTo>
                    <a:pt x="6771894" y="12700"/>
                  </a:lnTo>
                  <a:lnTo>
                    <a:pt x="6784594" y="12700"/>
                  </a:lnTo>
                  <a:lnTo>
                    <a:pt x="67845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657461" y="6245657"/>
            <a:ext cx="82363" cy="2127647"/>
            <a:chOff x="0" y="0"/>
            <a:chExt cx="109817" cy="28368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855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6954803" y="6381017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Contrôle d'Accès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54803" y="7017772"/>
            <a:ext cx="4621473" cy="117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Authentification et autorisation par rôles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207250" y="6236122"/>
            <a:ext cx="5097951" cy="2146706"/>
            <a:chOff x="0" y="0"/>
            <a:chExt cx="6797269" cy="28622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6771894" cy="2836926"/>
            </a:xfrm>
            <a:custGeom>
              <a:avLst/>
              <a:gdLst/>
              <a:ahLst/>
              <a:cxnLst/>
              <a:rect r="r" b="b" t="t" l="l"/>
              <a:pathLst>
                <a:path h="2836926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97294" cy="2862326"/>
            </a:xfrm>
            <a:custGeom>
              <a:avLst/>
              <a:gdLst/>
              <a:ahLst/>
              <a:cxnLst/>
              <a:rect r="r" b="b" t="t" l="l"/>
              <a:pathLst>
                <a:path h="2862326" w="6797294">
                  <a:moveTo>
                    <a:pt x="12700" y="0"/>
                  </a:moveTo>
                  <a:lnTo>
                    <a:pt x="6784594" y="0"/>
                  </a:lnTo>
                  <a:cubicBezTo>
                    <a:pt x="6791578" y="0"/>
                    <a:pt x="6797294" y="5715"/>
                    <a:pt x="6797294" y="12700"/>
                  </a:cubicBezTo>
                  <a:lnTo>
                    <a:pt x="6797294" y="2849626"/>
                  </a:lnTo>
                  <a:cubicBezTo>
                    <a:pt x="6797294" y="2856611"/>
                    <a:pt x="6791578" y="2862326"/>
                    <a:pt x="6784594" y="2862326"/>
                  </a:cubicBezTo>
                  <a:lnTo>
                    <a:pt x="12700" y="2862326"/>
                  </a:lnTo>
                  <a:cubicBezTo>
                    <a:pt x="5715" y="2862326"/>
                    <a:pt x="0" y="2856611"/>
                    <a:pt x="0" y="28496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49626"/>
                  </a:lnTo>
                  <a:lnTo>
                    <a:pt x="12700" y="2849626"/>
                  </a:lnTo>
                  <a:lnTo>
                    <a:pt x="12700" y="2836926"/>
                  </a:lnTo>
                  <a:lnTo>
                    <a:pt x="6784594" y="2836926"/>
                  </a:lnTo>
                  <a:lnTo>
                    <a:pt x="6784594" y="2849626"/>
                  </a:lnTo>
                  <a:lnTo>
                    <a:pt x="6771894" y="2849626"/>
                  </a:lnTo>
                  <a:lnTo>
                    <a:pt x="6771894" y="12700"/>
                  </a:lnTo>
                  <a:lnTo>
                    <a:pt x="6784594" y="12700"/>
                  </a:lnTo>
                  <a:lnTo>
                    <a:pt x="67845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16784" y="6245657"/>
            <a:ext cx="82363" cy="2127647"/>
            <a:chOff x="0" y="0"/>
            <a:chExt cx="109817" cy="28368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855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2514126" y="6381017"/>
            <a:ext cx="4621473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Notifications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14126" y="7017772"/>
            <a:ext cx="4621473" cy="117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Système de notifications in-app et email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647206"/>
            <a:chOff x="0" y="0"/>
            <a:chExt cx="24396967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196338"/>
            </a:xfrm>
            <a:custGeom>
              <a:avLst/>
              <a:gdLst/>
              <a:ahLst/>
              <a:cxnLst/>
              <a:rect r="r" b="b" t="t" l="l"/>
              <a:pathLst>
                <a:path h="219633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234534"/>
            <a:ext cx="13543845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 Technique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8137" y="1853108"/>
            <a:ext cx="5353421" cy="823608"/>
            <a:chOff x="0" y="0"/>
            <a:chExt cx="7137895" cy="1098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7908" cy="1098169"/>
            </a:xfrm>
            <a:custGeom>
              <a:avLst/>
              <a:gdLst/>
              <a:ahLst/>
              <a:cxnLst/>
              <a:rect r="r" b="b" t="t" l="l"/>
              <a:pathLst>
                <a:path h="1098169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95479" y="1929365"/>
            <a:ext cx="4896002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8603" y="2667181"/>
            <a:ext cx="5372491" cy="7156961"/>
            <a:chOff x="0" y="0"/>
            <a:chExt cx="7163321" cy="95426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7137908" cy="9517253"/>
            </a:xfrm>
            <a:custGeom>
              <a:avLst/>
              <a:gdLst/>
              <a:ahLst/>
              <a:cxnLst/>
              <a:rect r="r" b="b" t="t" l="l"/>
              <a:pathLst>
                <a:path h="9517253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9517253"/>
                  </a:lnTo>
                  <a:lnTo>
                    <a:pt x="0" y="95172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63308" cy="9542653"/>
            </a:xfrm>
            <a:custGeom>
              <a:avLst/>
              <a:gdLst/>
              <a:ahLst/>
              <a:cxnLst/>
              <a:rect r="r" b="b" t="t" l="l"/>
              <a:pathLst>
                <a:path h="9542653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9529953"/>
                  </a:lnTo>
                  <a:cubicBezTo>
                    <a:pt x="7163308" y="9536938"/>
                    <a:pt x="7157593" y="9542653"/>
                    <a:pt x="7150608" y="9542653"/>
                  </a:cubicBezTo>
                  <a:lnTo>
                    <a:pt x="12700" y="9542653"/>
                  </a:lnTo>
                  <a:cubicBezTo>
                    <a:pt x="5715" y="9542653"/>
                    <a:pt x="0" y="9536938"/>
                    <a:pt x="0" y="952995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529953"/>
                  </a:lnTo>
                  <a:lnTo>
                    <a:pt x="12700" y="9529953"/>
                  </a:lnTo>
                  <a:lnTo>
                    <a:pt x="12700" y="9517253"/>
                  </a:lnTo>
                  <a:lnTo>
                    <a:pt x="7150608" y="9517253"/>
                  </a:lnTo>
                  <a:lnTo>
                    <a:pt x="7150608" y="9529953"/>
                  </a:lnTo>
                  <a:lnTo>
                    <a:pt x="7137908" y="9529953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5216" y="3047333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38646" y="2890228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Laravel 11.x (PHP 8.2+)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45216" y="4104294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38646" y="3947189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14+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45216" y="5161245"/>
            <a:ext cx="164725" cy="164725"/>
            <a:chOff x="0" y="0"/>
            <a:chExt cx="219634" cy="2196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38646" y="5004149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Laravel Breeze (Auth)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5216" y="6218206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738646" y="6061110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Stripe API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45216" y="7275166"/>
            <a:ext cx="164725" cy="164725"/>
            <a:chOff x="0" y="0"/>
            <a:chExt cx="219634" cy="2196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38646" y="7118061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Laravel Queue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45216" y="8332118"/>
            <a:ext cx="164725" cy="164725"/>
            <a:chOff x="0" y="0"/>
            <a:chExt cx="219634" cy="2196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738646" y="8175022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Laravel Mail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794725" y="1853108"/>
            <a:ext cx="5353421" cy="823608"/>
            <a:chOff x="0" y="0"/>
            <a:chExt cx="7137895" cy="10981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37908" cy="1098169"/>
            </a:xfrm>
            <a:custGeom>
              <a:avLst/>
              <a:gdLst/>
              <a:ahLst/>
              <a:cxnLst/>
              <a:rect r="r" b="b" t="t" l="l"/>
              <a:pathLst>
                <a:path h="1098169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092067" y="1929365"/>
            <a:ext cx="4896002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785200" y="2667181"/>
            <a:ext cx="5372491" cy="7156961"/>
            <a:chOff x="0" y="0"/>
            <a:chExt cx="7163321" cy="95426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7137908" cy="9517253"/>
            </a:xfrm>
            <a:custGeom>
              <a:avLst/>
              <a:gdLst/>
              <a:ahLst/>
              <a:cxnLst/>
              <a:rect r="r" b="b" t="t" l="l"/>
              <a:pathLst>
                <a:path h="9517253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9517253"/>
                  </a:lnTo>
                  <a:lnTo>
                    <a:pt x="0" y="95172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63308" cy="9542653"/>
            </a:xfrm>
            <a:custGeom>
              <a:avLst/>
              <a:gdLst/>
              <a:ahLst/>
              <a:cxnLst/>
              <a:rect r="r" b="b" t="t" l="l"/>
              <a:pathLst>
                <a:path h="9542653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9529953"/>
                  </a:lnTo>
                  <a:cubicBezTo>
                    <a:pt x="7163308" y="9536938"/>
                    <a:pt x="7157593" y="9542653"/>
                    <a:pt x="7150608" y="9542653"/>
                  </a:cubicBezTo>
                  <a:lnTo>
                    <a:pt x="12700" y="9542653"/>
                  </a:lnTo>
                  <a:cubicBezTo>
                    <a:pt x="5715" y="9542653"/>
                    <a:pt x="0" y="9536938"/>
                    <a:pt x="0" y="952995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529953"/>
                  </a:lnTo>
                  <a:lnTo>
                    <a:pt x="12700" y="9529953"/>
                  </a:lnTo>
                  <a:lnTo>
                    <a:pt x="12700" y="9517253"/>
                  </a:lnTo>
                  <a:lnTo>
                    <a:pt x="7150608" y="9517253"/>
                  </a:lnTo>
                  <a:lnTo>
                    <a:pt x="7150608" y="9529953"/>
                  </a:lnTo>
                  <a:lnTo>
                    <a:pt x="7137908" y="9529953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041813" y="3047333"/>
            <a:ext cx="164725" cy="164725"/>
            <a:chOff x="0" y="0"/>
            <a:chExt cx="219634" cy="2196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435234" y="2890228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Tailwind CSS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041813" y="4104294"/>
            <a:ext cx="164725" cy="164725"/>
            <a:chOff x="0" y="0"/>
            <a:chExt cx="219634" cy="2196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435234" y="3947189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Vanilla JS + Alpine.js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041813" y="5161245"/>
            <a:ext cx="164725" cy="164725"/>
            <a:chOff x="0" y="0"/>
            <a:chExt cx="219634" cy="2196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435234" y="5004149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Phosphor Icons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041813" y="6218206"/>
            <a:ext cx="164725" cy="164725"/>
            <a:chOff x="0" y="0"/>
            <a:chExt cx="219634" cy="2196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435234" y="6061110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Vite (Build Tool)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041813" y="7275166"/>
            <a:ext cx="164725" cy="164725"/>
            <a:chOff x="0" y="0"/>
            <a:chExt cx="219634" cy="2196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7435234" y="7118061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Mobile-First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7041813" y="8332118"/>
            <a:ext cx="164725" cy="164725"/>
            <a:chOff x="0" y="0"/>
            <a:chExt cx="219634" cy="21963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7435234" y="8175022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Blade Templates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491323" y="1853108"/>
            <a:ext cx="5353421" cy="823608"/>
            <a:chOff x="0" y="0"/>
            <a:chExt cx="7137895" cy="10981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37908" cy="1098169"/>
            </a:xfrm>
            <a:custGeom>
              <a:avLst/>
              <a:gdLst/>
              <a:ahLst/>
              <a:cxnLst/>
              <a:rect r="r" b="b" t="t" l="l"/>
              <a:pathLst>
                <a:path h="1098169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788656" y="1929365"/>
            <a:ext cx="4896002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Infrastructure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481789" y="2667181"/>
            <a:ext cx="5372491" cy="7156961"/>
            <a:chOff x="0" y="0"/>
            <a:chExt cx="7163321" cy="954261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7137908" cy="9517253"/>
            </a:xfrm>
            <a:custGeom>
              <a:avLst/>
              <a:gdLst/>
              <a:ahLst/>
              <a:cxnLst/>
              <a:rect r="r" b="b" t="t" l="l"/>
              <a:pathLst>
                <a:path h="9517253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9517253"/>
                  </a:lnTo>
                  <a:lnTo>
                    <a:pt x="0" y="95172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63308" cy="9542653"/>
            </a:xfrm>
            <a:custGeom>
              <a:avLst/>
              <a:gdLst/>
              <a:ahLst/>
              <a:cxnLst/>
              <a:rect r="r" b="b" t="t" l="l"/>
              <a:pathLst>
                <a:path h="9542653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9529953"/>
                  </a:lnTo>
                  <a:cubicBezTo>
                    <a:pt x="7163308" y="9536938"/>
                    <a:pt x="7157593" y="9542653"/>
                    <a:pt x="7150608" y="9542653"/>
                  </a:cubicBezTo>
                  <a:lnTo>
                    <a:pt x="12700" y="9542653"/>
                  </a:lnTo>
                  <a:cubicBezTo>
                    <a:pt x="5715" y="9542653"/>
                    <a:pt x="0" y="9536938"/>
                    <a:pt x="0" y="952995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529953"/>
                  </a:lnTo>
                  <a:lnTo>
                    <a:pt x="12700" y="9529953"/>
                  </a:lnTo>
                  <a:lnTo>
                    <a:pt x="12700" y="9517253"/>
                  </a:lnTo>
                  <a:lnTo>
                    <a:pt x="7150608" y="9517253"/>
                  </a:lnTo>
                  <a:lnTo>
                    <a:pt x="7150608" y="9529953"/>
                  </a:lnTo>
                  <a:lnTo>
                    <a:pt x="7137908" y="9529953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738402" y="3047333"/>
            <a:ext cx="164725" cy="164725"/>
            <a:chOff x="0" y="0"/>
            <a:chExt cx="219634" cy="21963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3131832" y="2890228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Nginx / Apache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738402" y="4104294"/>
            <a:ext cx="164725" cy="164725"/>
            <a:chOff x="0" y="0"/>
            <a:chExt cx="219634" cy="21963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3131832" y="3947189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Stockage en base (Session)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738402" y="5161245"/>
            <a:ext cx="164725" cy="164725"/>
            <a:chOff x="0" y="0"/>
            <a:chExt cx="219634" cy="21963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3131832" y="5004149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Système de fichiers local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738402" y="6218206"/>
            <a:ext cx="164725" cy="164725"/>
            <a:chOff x="0" y="0"/>
            <a:chExt cx="219634" cy="21963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3131832" y="6061110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Laravel Cache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2738402" y="7275166"/>
            <a:ext cx="164725" cy="164725"/>
            <a:chOff x="0" y="0"/>
            <a:chExt cx="219634" cy="21963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131832" y="7118061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18 tables PostgreSQL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2738402" y="8332118"/>
            <a:ext cx="164725" cy="164725"/>
            <a:chOff x="0" y="0"/>
            <a:chExt cx="219634" cy="21963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3131832" y="8175022"/>
            <a:ext cx="4484208" cy="83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22 fichiers de migration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647206"/>
            <a:chOff x="0" y="0"/>
            <a:chExt cx="24396967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196338"/>
            </a:xfrm>
            <a:custGeom>
              <a:avLst/>
              <a:gdLst/>
              <a:ahLst/>
              <a:cxnLst/>
              <a:rect r="r" b="b" t="t" l="l"/>
              <a:pathLst>
                <a:path h="219633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234534"/>
            <a:ext cx="13543845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Rôles Utilisateurs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8137" y="1853108"/>
            <a:ext cx="5353421" cy="1372676"/>
            <a:chOff x="0" y="0"/>
            <a:chExt cx="7137895" cy="18302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7908" cy="1830197"/>
            </a:xfrm>
            <a:custGeom>
              <a:avLst/>
              <a:gdLst/>
              <a:ahLst/>
              <a:cxnLst/>
              <a:rect r="r" b="b" t="t" l="l"/>
              <a:pathLst>
                <a:path h="1830197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95479" y="1969418"/>
            <a:ext cx="4896002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8603" y="3216250"/>
            <a:ext cx="5372491" cy="6539255"/>
            <a:chOff x="0" y="0"/>
            <a:chExt cx="7163321" cy="87190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7137908" cy="8693658"/>
            </a:xfrm>
            <a:custGeom>
              <a:avLst/>
              <a:gdLst/>
              <a:ahLst/>
              <a:cxnLst/>
              <a:rect r="r" b="b" t="t" l="l"/>
              <a:pathLst>
                <a:path h="869365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8693658"/>
                  </a:lnTo>
                  <a:lnTo>
                    <a:pt x="0" y="8693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63308" cy="8719058"/>
            </a:xfrm>
            <a:custGeom>
              <a:avLst/>
              <a:gdLst/>
              <a:ahLst/>
              <a:cxnLst/>
              <a:rect r="r" b="b" t="t" l="l"/>
              <a:pathLst>
                <a:path h="871905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8706358"/>
                  </a:lnTo>
                  <a:cubicBezTo>
                    <a:pt x="7163308" y="8713343"/>
                    <a:pt x="7157593" y="8719058"/>
                    <a:pt x="7150608" y="8719058"/>
                  </a:cubicBezTo>
                  <a:lnTo>
                    <a:pt x="12700" y="8719058"/>
                  </a:lnTo>
                  <a:cubicBezTo>
                    <a:pt x="5715" y="8719058"/>
                    <a:pt x="0" y="8713343"/>
                    <a:pt x="0" y="87063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706358"/>
                  </a:lnTo>
                  <a:lnTo>
                    <a:pt x="12700" y="8706358"/>
                  </a:lnTo>
                  <a:lnTo>
                    <a:pt x="12700" y="8693658"/>
                  </a:lnTo>
                  <a:lnTo>
                    <a:pt x="7150608" y="8693658"/>
                  </a:lnTo>
                  <a:lnTo>
                    <a:pt x="7150608" y="8706358"/>
                  </a:lnTo>
                  <a:lnTo>
                    <a:pt x="7137908" y="870635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5216" y="3678765"/>
            <a:ext cx="178451" cy="178451"/>
            <a:chOff x="0" y="0"/>
            <a:chExt cx="237934" cy="2379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66097" y="3507934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 et recherche de produits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45216" y="4845529"/>
            <a:ext cx="178451" cy="178451"/>
            <a:chOff x="0" y="0"/>
            <a:chExt cx="237934" cy="2379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66097" y="4674708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Panier et gestion des articles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45216" y="6012304"/>
            <a:ext cx="178451" cy="178451"/>
            <a:chOff x="0" y="0"/>
            <a:chExt cx="237934" cy="237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66097" y="5841473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Processus de commande et paiement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5216" y="7179078"/>
            <a:ext cx="178451" cy="178451"/>
            <a:chOff x="0" y="0"/>
            <a:chExt cx="237934" cy="2379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766097" y="7008247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Suivi des commandes en temps réel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45216" y="8345843"/>
            <a:ext cx="178451" cy="178451"/>
            <a:chOff x="0" y="0"/>
            <a:chExt cx="237934" cy="2379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66097" y="8175022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Avis et évaluations des produits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794725" y="1853108"/>
            <a:ext cx="5353421" cy="1372676"/>
            <a:chOff x="0" y="0"/>
            <a:chExt cx="7137895" cy="18302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37908" cy="1830197"/>
            </a:xfrm>
            <a:custGeom>
              <a:avLst/>
              <a:gdLst/>
              <a:ahLst/>
              <a:cxnLst/>
              <a:rect r="r" b="b" t="t" l="l"/>
              <a:pathLst>
                <a:path h="1830197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092067" y="1969418"/>
            <a:ext cx="4896002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Vendeur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785200" y="3216250"/>
            <a:ext cx="5372491" cy="6539255"/>
            <a:chOff x="0" y="0"/>
            <a:chExt cx="7163321" cy="87190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7137908" cy="8693658"/>
            </a:xfrm>
            <a:custGeom>
              <a:avLst/>
              <a:gdLst/>
              <a:ahLst/>
              <a:cxnLst/>
              <a:rect r="r" b="b" t="t" l="l"/>
              <a:pathLst>
                <a:path h="869365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8693658"/>
                  </a:lnTo>
                  <a:lnTo>
                    <a:pt x="0" y="8693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63308" cy="8719058"/>
            </a:xfrm>
            <a:custGeom>
              <a:avLst/>
              <a:gdLst/>
              <a:ahLst/>
              <a:cxnLst/>
              <a:rect r="r" b="b" t="t" l="l"/>
              <a:pathLst>
                <a:path h="871905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8706358"/>
                  </a:lnTo>
                  <a:cubicBezTo>
                    <a:pt x="7163308" y="8713343"/>
                    <a:pt x="7157593" y="8719058"/>
                    <a:pt x="7150608" y="8719058"/>
                  </a:cubicBezTo>
                  <a:lnTo>
                    <a:pt x="12700" y="8719058"/>
                  </a:lnTo>
                  <a:cubicBezTo>
                    <a:pt x="5715" y="8719058"/>
                    <a:pt x="0" y="8713343"/>
                    <a:pt x="0" y="87063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706358"/>
                  </a:lnTo>
                  <a:lnTo>
                    <a:pt x="12700" y="8706358"/>
                  </a:lnTo>
                  <a:lnTo>
                    <a:pt x="12700" y="8693658"/>
                  </a:lnTo>
                  <a:lnTo>
                    <a:pt x="7150608" y="8693658"/>
                  </a:lnTo>
                  <a:lnTo>
                    <a:pt x="7150608" y="8706358"/>
                  </a:lnTo>
                  <a:lnTo>
                    <a:pt x="7137908" y="870635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041813" y="3678765"/>
            <a:ext cx="178451" cy="178451"/>
            <a:chOff x="0" y="0"/>
            <a:chExt cx="237934" cy="2379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462695" y="3507934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Création et gestion de boutique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041813" y="4845529"/>
            <a:ext cx="178451" cy="178451"/>
            <a:chOff x="0" y="0"/>
            <a:chExt cx="237934" cy="2379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462695" y="4674708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 des produits (CRUD)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041813" y="6012304"/>
            <a:ext cx="178451" cy="178451"/>
            <a:chOff x="0" y="0"/>
            <a:chExt cx="237934" cy="2379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462695" y="5841473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Tableau de bord financier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041813" y="7179078"/>
            <a:ext cx="178451" cy="178451"/>
            <a:chOff x="0" y="0"/>
            <a:chExt cx="237934" cy="2379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462695" y="7008247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 des commandes vendeur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041813" y="8345843"/>
            <a:ext cx="178451" cy="178451"/>
            <a:chOff x="0" y="0"/>
            <a:chExt cx="237934" cy="2379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462695" y="8175022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Demandes de retrait des fonds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491323" y="1853108"/>
            <a:ext cx="5353421" cy="1372676"/>
            <a:chOff x="0" y="0"/>
            <a:chExt cx="7137895" cy="18302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37908" cy="1830197"/>
            </a:xfrm>
            <a:custGeom>
              <a:avLst/>
              <a:gdLst/>
              <a:ahLst/>
              <a:cxnLst/>
              <a:rect r="r" b="b" t="t" l="l"/>
              <a:pathLst>
                <a:path h="1830197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1C295C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2788656" y="1969418"/>
            <a:ext cx="4896002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Administrateur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481789" y="3216250"/>
            <a:ext cx="5372491" cy="6539255"/>
            <a:chOff x="0" y="0"/>
            <a:chExt cx="7163321" cy="87190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7137908" cy="8693658"/>
            </a:xfrm>
            <a:custGeom>
              <a:avLst/>
              <a:gdLst/>
              <a:ahLst/>
              <a:cxnLst/>
              <a:rect r="r" b="b" t="t" l="l"/>
              <a:pathLst>
                <a:path h="869365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8693658"/>
                  </a:lnTo>
                  <a:lnTo>
                    <a:pt x="0" y="86936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163308" cy="8719058"/>
            </a:xfrm>
            <a:custGeom>
              <a:avLst/>
              <a:gdLst/>
              <a:ahLst/>
              <a:cxnLst/>
              <a:rect r="r" b="b" t="t" l="l"/>
              <a:pathLst>
                <a:path h="871905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8706358"/>
                  </a:lnTo>
                  <a:cubicBezTo>
                    <a:pt x="7163308" y="8713343"/>
                    <a:pt x="7157593" y="8719058"/>
                    <a:pt x="7150608" y="8719058"/>
                  </a:cubicBezTo>
                  <a:lnTo>
                    <a:pt x="12700" y="8719058"/>
                  </a:lnTo>
                  <a:cubicBezTo>
                    <a:pt x="5715" y="8719058"/>
                    <a:pt x="0" y="8713343"/>
                    <a:pt x="0" y="870635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706358"/>
                  </a:lnTo>
                  <a:lnTo>
                    <a:pt x="12700" y="8706358"/>
                  </a:lnTo>
                  <a:lnTo>
                    <a:pt x="12700" y="8693658"/>
                  </a:lnTo>
                  <a:lnTo>
                    <a:pt x="7150608" y="8693658"/>
                  </a:lnTo>
                  <a:lnTo>
                    <a:pt x="7150608" y="8706358"/>
                  </a:lnTo>
                  <a:lnTo>
                    <a:pt x="7137908" y="870635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738402" y="3678765"/>
            <a:ext cx="178451" cy="178451"/>
            <a:chOff x="0" y="0"/>
            <a:chExt cx="237934" cy="23793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1C295C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159283" y="3507934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Approbation des boutiques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738402" y="4845529"/>
            <a:ext cx="178451" cy="178451"/>
            <a:chOff x="0" y="0"/>
            <a:chExt cx="237934" cy="23793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1C295C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3159283" y="4674708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 des utilisateurs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738402" y="6012304"/>
            <a:ext cx="178451" cy="178451"/>
            <a:chOff x="0" y="0"/>
            <a:chExt cx="237934" cy="23793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1C295C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3159283" y="5841473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Supervision des commandes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738402" y="7179078"/>
            <a:ext cx="178451" cy="178451"/>
            <a:chOff x="0" y="0"/>
            <a:chExt cx="237934" cy="23793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1C295C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3159283" y="7008247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Résolution des litiges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738402" y="8345843"/>
            <a:ext cx="178451" cy="178451"/>
            <a:chOff x="0" y="0"/>
            <a:chExt cx="237934" cy="23793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1C295C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3159283" y="8175022"/>
            <a:ext cx="4415571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Méthodes de livraison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647206"/>
            <a:chOff x="0" y="0"/>
            <a:chExt cx="24396967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196338"/>
            </a:xfrm>
            <a:custGeom>
              <a:avLst/>
              <a:gdLst/>
              <a:ahLst/>
              <a:cxnLst/>
              <a:rect r="r" b="b" t="t" l="l"/>
              <a:pathLst>
                <a:path h="219633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234534"/>
            <a:ext cx="13543845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Fonctionnalités Clés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8603" y="1980838"/>
            <a:ext cx="5372491" cy="2901677"/>
            <a:chOff x="0" y="0"/>
            <a:chExt cx="7163321" cy="38689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7137908" cy="3843528"/>
            </a:xfrm>
            <a:custGeom>
              <a:avLst/>
              <a:gdLst/>
              <a:ahLst/>
              <a:cxnLst/>
              <a:rect r="r" b="b" t="t" l="l"/>
              <a:pathLst>
                <a:path h="384352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63308" cy="3868928"/>
            </a:xfrm>
            <a:custGeom>
              <a:avLst/>
              <a:gdLst/>
              <a:ahLst/>
              <a:cxnLst/>
              <a:rect r="r" b="b" t="t" l="l"/>
              <a:pathLst>
                <a:path h="386892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3856228"/>
                  </a:lnTo>
                  <a:cubicBezTo>
                    <a:pt x="7163308" y="3863213"/>
                    <a:pt x="7157593" y="3868928"/>
                    <a:pt x="7150608" y="3868928"/>
                  </a:cubicBezTo>
                  <a:lnTo>
                    <a:pt x="12700" y="3868928"/>
                  </a:lnTo>
                  <a:cubicBezTo>
                    <a:pt x="5715" y="3868928"/>
                    <a:pt x="0" y="3863213"/>
                    <a:pt x="0" y="38562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856228"/>
                  </a:lnTo>
                  <a:lnTo>
                    <a:pt x="12700" y="3856228"/>
                  </a:lnTo>
                  <a:lnTo>
                    <a:pt x="12700" y="3843528"/>
                  </a:lnTo>
                  <a:lnTo>
                    <a:pt x="7150608" y="3843528"/>
                  </a:lnTo>
                  <a:lnTo>
                    <a:pt x="7150608" y="3856228"/>
                  </a:lnTo>
                  <a:lnTo>
                    <a:pt x="7137908" y="385622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8137" y="1990373"/>
            <a:ext cx="5353421" cy="109814"/>
            <a:chOff x="0" y="0"/>
            <a:chExt cx="7137895" cy="146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37908" cy="146431"/>
            </a:xfrm>
            <a:custGeom>
              <a:avLst/>
              <a:gdLst/>
              <a:ahLst/>
              <a:cxnLst/>
              <a:rect r="r" b="b" t="t" l="l"/>
              <a:pathLst>
                <a:path h="146431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36656" y="2203894"/>
            <a:ext cx="4827375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Panier d'Achat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6656" y="2899753"/>
            <a:ext cx="4827375" cy="179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Ajout, mise à jour et suppression d'articles · Calcul des sous-totaux · Vérification du stock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85200" y="1980838"/>
            <a:ext cx="5372491" cy="2901677"/>
            <a:chOff x="0" y="0"/>
            <a:chExt cx="7163321" cy="386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7137908" cy="3843528"/>
            </a:xfrm>
            <a:custGeom>
              <a:avLst/>
              <a:gdLst/>
              <a:ahLst/>
              <a:cxnLst/>
              <a:rect r="r" b="b" t="t" l="l"/>
              <a:pathLst>
                <a:path h="384352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63308" cy="3868928"/>
            </a:xfrm>
            <a:custGeom>
              <a:avLst/>
              <a:gdLst/>
              <a:ahLst/>
              <a:cxnLst/>
              <a:rect r="r" b="b" t="t" l="l"/>
              <a:pathLst>
                <a:path h="386892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3856228"/>
                  </a:lnTo>
                  <a:cubicBezTo>
                    <a:pt x="7163308" y="3863213"/>
                    <a:pt x="7157593" y="3868928"/>
                    <a:pt x="7150608" y="3868928"/>
                  </a:cubicBezTo>
                  <a:lnTo>
                    <a:pt x="12700" y="3868928"/>
                  </a:lnTo>
                  <a:cubicBezTo>
                    <a:pt x="5715" y="3868928"/>
                    <a:pt x="0" y="3863213"/>
                    <a:pt x="0" y="38562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856228"/>
                  </a:lnTo>
                  <a:lnTo>
                    <a:pt x="12700" y="3856228"/>
                  </a:lnTo>
                  <a:lnTo>
                    <a:pt x="12700" y="3843528"/>
                  </a:lnTo>
                  <a:lnTo>
                    <a:pt x="7150608" y="3843528"/>
                  </a:lnTo>
                  <a:lnTo>
                    <a:pt x="7150608" y="3856228"/>
                  </a:lnTo>
                  <a:lnTo>
                    <a:pt x="7137908" y="385622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94725" y="1990373"/>
            <a:ext cx="5353421" cy="109814"/>
            <a:chOff x="0" y="0"/>
            <a:chExt cx="7137895" cy="1464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37908" cy="146431"/>
            </a:xfrm>
            <a:custGeom>
              <a:avLst/>
              <a:gdLst/>
              <a:ahLst/>
              <a:cxnLst/>
              <a:rect r="r" b="b" t="t" l="l"/>
              <a:pathLst>
                <a:path h="146431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133253" y="2203894"/>
            <a:ext cx="4827375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Paiement Stripe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33253" y="2899753"/>
            <a:ext cx="4827375" cy="179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Création du PaymentIntent · Vérification côté serveur · Création commande · Mise à jour stock et solde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481789" y="1980838"/>
            <a:ext cx="5372491" cy="2901677"/>
            <a:chOff x="0" y="0"/>
            <a:chExt cx="7163321" cy="38689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7137908" cy="3843528"/>
            </a:xfrm>
            <a:custGeom>
              <a:avLst/>
              <a:gdLst/>
              <a:ahLst/>
              <a:cxnLst/>
              <a:rect r="r" b="b" t="t" l="l"/>
              <a:pathLst>
                <a:path h="384352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63308" cy="3868928"/>
            </a:xfrm>
            <a:custGeom>
              <a:avLst/>
              <a:gdLst/>
              <a:ahLst/>
              <a:cxnLst/>
              <a:rect r="r" b="b" t="t" l="l"/>
              <a:pathLst>
                <a:path h="386892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3856228"/>
                  </a:lnTo>
                  <a:cubicBezTo>
                    <a:pt x="7163308" y="3863213"/>
                    <a:pt x="7157593" y="3868928"/>
                    <a:pt x="7150608" y="3868928"/>
                  </a:cubicBezTo>
                  <a:lnTo>
                    <a:pt x="12700" y="3868928"/>
                  </a:lnTo>
                  <a:cubicBezTo>
                    <a:pt x="5715" y="3868928"/>
                    <a:pt x="0" y="3863213"/>
                    <a:pt x="0" y="38562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856228"/>
                  </a:lnTo>
                  <a:lnTo>
                    <a:pt x="12700" y="3856228"/>
                  </a:lnTo>
                  <a:lnTo>
                    <a:pt x="12700" y="3843528"/>
                  </a:lnTo>
                  <a:lnTo>
                    <a:pt x="7150608" y="3843528"/>
                  </a:lnTo>
                  <a:lnTo>
                    <a:pt x="7150608" y="3856228"/>
                  </a:lnTo>
                  <a:lnTo>
                    <a:pt x="7137908" y="385622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91323" y="1990373"/>
            <a:ext cx="5353421" cy="109814"/>
            <a:chOff x="0" y="0"/>
            <a:chExt cx="7137895" cy="1464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7908" cy="146431"/>
            </a:xfrm>
            <a:custGeom>
              <a:avLst/>
              <a:gdLst/>
              <a:ahLst/>
              <a:cxnLst/>
              <a:rect r="r" b="b" t="t" l="l"/>
              <a:pathLst>
                <a:path h="146431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829842" y="2203894"/>
            <a:ext cx="4827375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Contrôle d'Accès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29842" y="2899753"/>
            <a:ext cx="4827375" cy="179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Middleware de rôles · Redirection vers dashboard · Routes protégées · UI contextuelle par rôle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88603" y="5275259"/>
            <a:ext cx="5372491" cy="2901677"/>
            <a:chOff x="0" y="0"/>
            <a:chExt cx="7163321" cy="386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7137908" cy="3843528"/>
            </a:xfrm>
            <a:custGeom>
              <a:avLst/>
              <a:gdLst/>
              <a:ahLst/>
              <a:cxnLst/>
              <a:rect r="r" b="b" t="t" l="l"/>
              <a:pathLst>
                <a:path h="384352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3308" cy="3868928"/>
            </a:xfrm>
            <a:custGeom>
              <a:avLst/>
              <a:gdLst/>
              <a:ahLst/>
              <a:cxnLst/>
              <a:rect r="r" b="b" t="t" l="l"/>
              <a:pathLst>
                <a:path h="386892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3856228"/>
                  </a:lnTo>
                  <a:cubicBezTo>
                    <a:pt x="7163308" y="3863213"/>
                    <a:pt x="7157593" y="3868928"/>
                    <a:pt x="7150608" y="3868928"/>
                  </a:cubicBezTo>
                  <a:lnTo>
                    <a:pt x="12700" y="3868928"/>
                  </a:lnTo>
                  <a:cubicBezTo>
                    <a:pt x="5715" y="3868928"/>
                    <a:pt x="0" y="3863213"/>
                    <a:pt x="0" y="38562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856228"/>
                  </a:lnTo>
                  <a:lnTo>
                    <a:pt x="12700" y="3856228"/>
                  </a:lnTo>
                  <a:lnTo>
                    <a:pt x="12700" y="3843528"/>
                  </a:lnTo>
                  <a:lnTo>
                    <a:pt x="7150608" y="3843528"/>
                  </a:lnTo>
                  <a:lnTo>
                    <a:pt x="7150608" y="3856228"/>
                  </a:lnTo>
                  <a:lnTo>
                    <a:pt x="7137908" y="385622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8137" y="5284784"/>
            <a:ext cx="5353421" cy="109814"/>
            <a:chOff x="0" y="0"/>
            <a:chExt cx="7137895" cy="1464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37908" cy="146431"/>
            </a:xfrm>
            <a:custGeom>
              <a:avLst/>
              <a:gdLst/>
              <a:ahLst/>
              <a:cxnLst/>
              <a:rect r="r" b="b" t="t" l="l"/>
              <a:pathLst>
                <a:path h="146431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36656" y="5498306"/>
            <a:ext cx="4827375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Système Financier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6656" y="6194174"/>
            <a:ext cx="4827375" cy="179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Suivi des gains · Calcul des remboursements · Solde disponible · Règles de période de rétention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785200" y="5275259"/>
            <a:ext cx="5372491" cy="2901677"/>
            <a:chOff x="0" y="0"/>
            <a:chExt cx="7163321" cy="38689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7137908" cy="3843528"/>
            </a:xfrm>
            <a:custGeom>
              <a:avLst/>
              <a:gdLst/>
              <a:ahLst/>
              <a:cxnLst/>
              <a:rect r="r" b="b" t="t" l="l"/>
              <a:pathLst>
                <a:path h="384352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63308" cy="3868928"/>
            </a:xfrm>
            <a:custGeom>
              <a:avLst/>
              <a:gdLst/>
              <a:ahLst/>
              <a:cxnLst/>
              <a:rect r="r" b="b" t="t" l="l"/>
              <a:pathLst>
                <a:path h="386892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3856228"/>
                  </a:lnTo>
                  <a:cubicBezTo>
                    <a:pt x="7163308" y="3863213"/>
                    <a:pt x="7157593" y="3868928"/>
                    <a:pt x="7150608" y="3868928"/>
                  </a:cubicBezTo>
                  <a:lnTo>
                    <a:pt x="12700" y="3868928"/>
                  </a:lnTo>
                  <a:cubicBezTo>
                    <a:pt x="5715" y="3868928"/>
                    <a:pt x="0" y="3863213"/>
                    <a:pt x="0" y="38562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856228"/>
                  </a:lnTo>
                  <a:lnTo>
                    <a:pt x="12700" y="3856228"/>
                  </a:lnTo>
                  <a:lnTo>
                    <a:pt x="12700" y="3843528"/>
                  </a:lnTo>
                  <a:lnTo>
                    <a:pt x="7150608" y="3843528"/>
                  </a:lnTo>
                  <a:lnTo>
                    <a:pt x="7150608" y="3856228"/>
                  </a:lnTo>
                  <a:lnTo>
                    <a:pt x="7137908" y="385622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794725" y="5284784"/>
            <a:ext cx="5353421" cy="109814"/>
            <a:chOff x="0" y="0"/>
            <a:chExt cx="7137895" cy="14641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37908" cy="146431"/>
            </a:xfrm>
            <a:custGeom>
              <a:avLst/>
              <a:gdLst/>
              <a:ahLst/>
              <a:cxnLst/>
              <a:rect r="r" b="b" t="t" l="l"/>
              <a:pathLst>
                <a:path h="146431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133253" y="5498306"/>
            <a:ext cx="4827375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Gestion Commandes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133253" y="6194174"/>
            <a:ext cx="4827375" cy="179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Workflow de statuts · Historique client · Gestion vendeur · Notifications automatiques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481789" y="5275259"/>
            <a:ext cx="5372491" cy="2901677"/>
            <a:chOff x="0" y="0"/>
            <a:chExt cx="7163321" cy="38689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7137908" cy="3843528"/>
            </a:xfrm>
            <a:custGeom>
              <a:avLst/>
              <a:gdLst/>
              <a:ahLst/>
              <a:cxnLst/>
              <a:rect r="r" b="b" t="t" l="l"/>
              <a:pathLst>
                <a:path h="3843528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63308" cy="3868928"/>
            </a:xfrm>
            <a:custGeom>
              <a:avLst/>
              <a:gdLst/>
              <a:ahLst/>
              <a:cxnLst/>
              <a:rect r="r" b="b" t="t" l="l"/>
              <a:pathLst>
                <a:path h="3868928" w="7163308">
                  <a:moveTo>
                    <a:pt x="12700" y="0"/>
                  </a:moveTo>
                  <a:lnTo>
                    <a:pt x="7150608" y="0"/>
                  </a:lnTo>
                  <a:cubicBezTo>
                    <a:pt x="7157593" y="0"/>
                    <a:pt x="7163308" y="5715"/>
                    <a:pt x="7163308" y="12700"/>
                  </a:cubicBezTo>
                  <a:lnTo>
                    <a:pt x="7163308" y="3856228"/>
                  </a:lnTo>
                  <a:cubicBezTo>
                    <a:pt x="7163308" y="3863213"/>
                    <a:pt x="7157593" y="3868928"/>
                    <a:pt x="7150608" y="3868928"/>
                  </a:cubicBezTo>
                  <a:lnTo>
                    <a:pt x="12700" y="3868928"/>
                  </a:lnTo>
                  <a:cubicBezTo>
                    <a:pt x="5715" y="3868928"/>
                    <a:pt x="0" y="3863213"/>
                    <a:pt x="0" y="38562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856228"/>
                  </a:lnTo>
                  <a:lnTo>
                    <a:pt x="12700" y="3856228"/>
                  </a:lnTo>
                  <a:lnTo>
                    <a:pt x="12700" y="3843528"/>
                  </a:lnTo>
                  <a:lnTo>
                    <a:pt x="7150608" y="3843528"/>
                  </a:lnTo>
                  <a:lnTo>
                    <a:pt x="7150608" y="3856228"/>
                  </a:lnTo>
                  <a:lnTo>
                    <a:pt x="7137908" y="3856228"/>
                  </a:lnTo>
                  <a:lnTo>
                    <a:pt x="7137908" y="12700"/>
                  </a:lnTo>
                  <a:lnTo>
                    <a:pt x="7150608" y="12700"/>
                  </a:lnTo>
                  <a:lnTo>
                    <a:pt x="71506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91323" y="5284784"/>
            <a:ext cx="5353421" cy="109814"/>
            <a:chOff x="0" y="0"/>
            <a:chExt cx="7137895" cy="14641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37908" cy="146431"/>
            </a:xfrm>
            <a:custGeom>
              <a:avLst/>
              <a:gdLst/>
              <a:ahLst/>
              <a:cxnLst/>
              <a:rect r="r" b="b" t="t" l="l"/>
              <a:pathLst>
                <a:path h="146431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2829842" y="5498306"/>
            <a:ext cx="4827375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Sécurité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29842" y="6194174"/>
            <a:ext cx="4827375" cy="179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Hachage Bcrypt · Protection CSRF · Prévention injections SQL · Validation des formulaires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647206"/>
            <a:chOff x="0" y="0"/>
            <a:chExt cx="24396967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196338"/>
            </a:xfrm>
            <a:custGeom>
              <a:avLst/>
              <a:gdLst/>
              <a:ahLst/>
              <a:cxnLst/>
              <a:rect r="r" b="b" t="t" l="l"/>
              <a:pathLst>
                <a:path h="219633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234534"/>
            <a:ext cx="13543845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Sécurité de la Plateforme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8603" y="1912210"/>
            <a:ext cx="7980569" cy="3450746"/>
            <a:chOff x="0" y="0"/>
            <a:chExt cx="10640758" cy="46009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0615295" cy="4575556"/>
            </a:xfrm>
            <a:custGeom>
              <a:avLst/>
              <a:gdLst/>
              <a:ahLst/>
              <a:cxnLst/>
              <a:rect r="r" b="b" t="t" l="l"/>
              <a:pathLst>
                <a:path h="4575556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40695" cy="4600956"/>
            </a:xfrm>
            <a:custGeom>
              <a:avLst/>
              <a:gdLst/>
              <a:ahLst/>
              <a:cxnLst/>
              <a:rect r="r" b="b" t="t" l="l"/>
              <a:pathLst>
                <a:path h="4600956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4588256"/>
                  </a:lnTo>
                  <a:cubicBezTo>
                    <a:pt x="10640695" y="4595241"/>
                    <a:pt x="10634980" y="4600956"/>
                    <a:pt x="10627995" y="4600956"/>
                  </a:cubicBezTo>
                  <a:lnTo>
                    <a:pt x="12700" y="4600956"/>
                  </a:lnTo>
                  <a:cubicBezTo>
                    <a:pt x="5715" y="4600956"/>
                    <a:pt x="0" y="4595241"/>
                    <a:pt x="0" y="458825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88256"/>
                  </a:lnTo>
                  <a:lnTo>
                    <a:pt x="12700" y="4588256"/>
                  </a:lnTo>
                  <a:lnTo>
                    <a:pt x="12700" y="4575556"/>
                  </a:lnTo>
                  <a:lnTo>
                    <a:pt x="10627995" y="4575556"/>
                  </a:lnTo>
                  <a:lnTo>
                    <a:pt x="10627995" y="4588256"/>
                  </a:lnTo>
                  <a:lnTo>
                    <a:pt x="10615295" y="4588256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8137" y="1921745"/>
            <a:ext cx="7961500" cy="823608"/>
            <a:chOff x="0" y="0"/>
            <a:chExt cx="10615333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15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95479" y="2029654"/>
            <a:ext cx="7504081" cy="61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Authentification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3061059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66097" y="2917688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Hachage des mots de passe (Bcrypt)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72676" y="3884666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66097" y="3741287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 des sessions sécurisées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72676" y="4708265"/>
            <a:ext cx="164725" cy="164725"/>
            <a:chOff x="0" y="0"/>
            <a:chExt cx="219634" cy="2196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66097" y="4564894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Fonctionnalité "Se souvenir de moi"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61906" y="1912210"/>
            <a:ext cx="7980569" cy="3450746"/>
            <a:chOff x="0" y="0"/>
            <a:chExt cx="10640758" cy="46009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0615295" cy="4575556"/>
            </a:xfrm>
            <a:custGeom>
              <a:avLst/>
              <a:gdLst/>
              <a:ahLst/>
              <a:cxnLst/>
              <a:rect r="r" b="b" t="t" l="l"/>
              <a:pathLst>
                <a:path h="4575556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40695" cy="4600956"/>
            </a:xfrm>
            <a:custGeom>
              <a:avLst/>
              <a:gdLst/>
              <a:ahLst/>
              <a:cxnLst/>
              <a:rect r="r" b="b" t="t" l="l"/>
              <a:pathLst>
                <a:path h="4600956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4588256"/>
                  </a:lnTo>
                  <a:cubicBezTo>
                    <a:pt x="10640695" y="4595241"/>
                    <a:pt x="10634980" y="4600956"/>
                    <a:pt x="10627995" y="4600956"/>
                  </a:cubicBezTo>
                  <a:lnTo>
                    <a:pt x="12700" y="4600956"/>
                  </a:lnTo>
                  <a:cubicBezTo>
                    <a:pt x="5715" y="4600956"/>
                    <a:pt x="0" y="4595241"/>
                    <a:pt x="0" y="458825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88256"/>
                  </a:lnTo>
                  <a:lnTo>
                    <a:pt x="12700" y="4588256"/>
                  </a:lnTo>
                  <a:lnTo>
                    <a:pt x="12700" y="4575556"/>
                  </a:lnTo>
                  <a:lnTo>
                    <a:pt x="10627995" y="4575556"/>
                  </a:lnTo>
                  <a:lnTo>
                    <a:pt x="10627995" y="4588256"/>
                  </a:lnTo>
                  <a:lnTo>
                    <a:pt x="10615295" y="4588256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71441" y="1921745"/>
            <a:ext cx="7961500" cy="823608"/>
            <a:chOff x="0" y="0"/>
            <a:chExt cx="10615333" cy="10981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15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768783" y="2029654"/>
            <a:ext cx="7504081" cy="61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Autorisation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45970" y="3061059"/>
            <a:ext cx="164725" cy="164725"/>
            <a:chOff x="0" y="0"/>
            <a:chExt cx="219634" cy="2196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139401" y="2917688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Contrôle d'accès basé sur les rôles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745970" y="3884666"/>
            <a:ext cx="164725" cy="164725"/>
            <a:chOff x="0" y="0"/>
            <a:chExt cx="219634" cy="2196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39401" y="3741287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Protection des routes par middleware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745970" y="4708265"/>
            <a:ext cx="164725" cy="164725"/>
            <a:chOff x="0" y="0"/>
            <a:chExt cx="219634" cy="2196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139401" y="4564894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Autorisation basée sur les policies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8603" y="5755691"/>
            <a:ext cx="7980569" cy="4068451"/>
            <a:chOff x="0" y="0"/>
            <a:chExt cx="10640758" cy="54246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10615295" cy="5399151"/>
            </a:xfrm>
            <a:custGeom>
              <a:avLst/>
              <a:gdLst/>
              <a:ahLst/>
              <a:cxnLst/>
              <a:rect r="r" b="b" t="t" l="l"/>
              <a:pathLst>
                <a:path h="5399151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5399151"/>
                  </a:lnTo>
                  <a:lnTo>
                    <a:pt x="0" y="53991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40695" cy="5424551"/>
            </a:xfrm>
            <a:custGeom>
              <a:avLst/>
              <a:gdLst/>
              <a:ahLst/>
              <a:cxnLst/>
              <a:rect r="r" b="b" t="t" l="l"/>
              <a:pathLst>
                <a:path h="5424551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5411851"/>
                  </a:lnTo>
                  <a:cubicBezTo>
                    <a:pt x="10640695" y="5418836"/>
                    <a:pt x="10634980" y="5424551"/>
                    <a:pt x="10627995" y="5424551"/>
                  </a:cubicBezTo>
                  <a:lnTo>
                    <a:pt x="12700" y="5424551"/>
                  </a:lnTo>
                  <a:cubicBezTo>
                    <a:pt x="5715" y="5424551"/>
                    <a:pt x="0" y="5418836"/>
                    <a:pt x="0" y="541185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411851"/>
                  </a:lnTo>
                  <a:lnTo>
                    <a:pt x="12700" y="5411851"/>
                  </a:lnTo>
                  <a:lnTo>
                    <a:pt x="12700" y="5399151"/>
                  </a:lnTo>
                  <a:lnTo>
                    <a:pt x="10627995" y="5399151"/>
                  </a:lnTo>
                  <a:lnTo>
                    <a:pt x="10627995" y="5411851"/>
                  </a:lnTo>
                  <a:lnTo>
                    <a:pt x="10615295" y="5411851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98137" y="5765225"/>
            <a:ext cx="7961500" cy="823608"/>
            <a:chOff x="0" y="0"/>
            <a:chExt cx="10615333" cy="10981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15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95479" y="5873134"/>
            <a:ext cx="7504081" cy="61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Protection des Données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72676" y="6904539"/>
            <a:ext cx="164725" cy="164725"/>
            <a:chOff x="0" y="0"/>
            <a:chExt cx="219634" cy="2196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766097" y="6761169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des tokens CSRF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72676" y="7728147"/>
            <a:ext cx="164725" cy="164725"/>
            <a:chOff x="0" y="0"/>
            <a:chExt cx="219634" cy="2196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766097" y="7584767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Prévention des injections SQL (Eloquent)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72676" y="8551745"/>
            <a:ext cx="164725" cy="164725"/>
            <a:chOff x="0" y="0"/>
            <a:chExt cx="219634" cy="2196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766097" y="8408375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Protection XSS (Blade templating)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372676" y="9375353"/>
            <a:ext cx="164725" cy="164725"/>
            <a:chOff x="0" y="0"/>
            <a:chExt cx="219634" cy="21963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766097" y="9231982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et assainissement des entrées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461906" y="5755691"/>
            <a:ext cx="7980569" cy="4068451"/>
            <a:chOff x="0" y="0"/>
            <a:chExt cx="10640758" cy="542460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0615295" cy="5399151"/>
            </a:xfrm>
            <a:custGeom>
              <a:avLst/>
              <a:gdLst/>
              <a:ahLst/>
              <a:cxnLst/>
              <a:rect r="r" b="b" t="t" l="l"/>
              <a:pathLst>
                <a:path h="5399151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5399151"/>
                  </a:lnTo>
                  <a:lnTo>
                    <a:pt x="0" y="53991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40695" cy="5424551"/>
            </a:xfrm>
            <a:custGeom>
              <a:avLst/>
              <a:gdLst/>
              <a:ahLst/>
              <a:cxnLst/>
              <a:rect r="r" b="b" t="t" l="l"/>
              <a:pathLst>
                <a:path h="5424551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5411851"/>
                  </a:lnTo>
                  <a:cubicBezTo>
                    <a:pt x="10640695" y="5418836"/>
                    <a:pt x="10634980" y="5424551"/>
                    <a:pt x="10627995" y="5424551"/>
                  </a:cubicBezTo>
                  <a:lnTo>
                    <a:pt x="12700" y="5424551"/>
                  </a:lnTo>
                  <a:cubicBezTo>
                    <a:pt x="5715" y="5424551"/>
                    <a:pt x="0" y="5418836"/>
                    <a:pt x="0" y="541185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411851"/>
                  </a:lnTo>
                  <a:lnTo>
                    <a:pt x="12700" y="5411851"/>
                  </a:lnTo>
                  <a:lnTo>
                    <a:pt x="12700" y="5399151"/>
                  </a:lnTo>
                  <a:lnTo>
                    <a:pt x="10627995" y="5399151"/>
                  </a:lnTo>
                  <a:lnTo>
                    <a:pt x="10627995" y="5411851"/>
                  </a:lnTo>
                  <a:lnTo>
                    <a:pt x="10615295" y="5411851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471441" y="5765225"/>
            <a:ext cx="7961500" cy="823608"/>
            <a:chOff x="0" y="0"/>
            <a:chExt cx="10615333" cy="10981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15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768783" y="5873134"/>
            <a:ext cx="7504081" cy="61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Sécurité des Paiements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745970" y="6904539"/>
            <a:ext cx="164725" cy="164725"/>
            <a:chOff x="0" y="0"/>
            <a:chExt cx="219634" cy="21963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0139401" y="6761169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Conformité PCI via Stripe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745970" y="7728147"/>
            <a:ext cx="164725" cy="164725"/>
            <a:chOff x="0" y="0"/>
            <a:chExt cx="219634" cy="21963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0139401" y="7584767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Vérification des paiements côté serveur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745970" y="8551745"/>
            <a:ext cx="164725" cy="164725"/>
            <a:chOff x="0" y="0"/>
            <a:chExt cx="219634" cy="21963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0139401" y="8408375"/>
            <a:ext cx="7023649" cy="6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Stockage sécurisé des clés (.env)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647206"/>
            <a:chOff x="0" y="0"/>
            <a:chExt cx="24396967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196338"/>
            </a:xfrm>
            <a:custGeom>
              <a:avLst/>
              <a:gdLst/>
              <a:ahLst/>
              <a:cxnLst/>
              <a:rect r="r" b="b" t="t" l="l"/>
              <a:pathLst>
                <a:path h="219633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234534"/>
            <a:ext cx="14916512" cy="12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Problèmes Résolus &amp; Améliorations Futures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8137" y="1853108"/>
            <a:ext cx="7961500" cy="823608"/>
            <a:chOff x="0" y="0"/>
            <a:chExt cx="10615333" cy="1098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15295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95479" y="1947291"/>
            <a:ext cx="7366816" cy="61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 Problèmes Résolus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8603" y="2873083"/>
            <a:ext cx="7980569" cy="1185834"/>
            <a:chOff x="0" y="0"/>
            <a:chExt cx="10640758" cy="1581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1061529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40695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1568450"/>
                  </a:lnTo>
                  <a:cubicBezTo>
                    <a:pt x="10640695" y="1575435"/>
                    <a:pt x="10634980" y="1581150"/>
                    <a:pt x="10627995" y="1581150"/>
                  </a:cubicBezTo>
                  <a:lnTo>
                    <a:pt x="12700" y="1581150"/>
                  </a:lnTo>
                  <a:cubicBezTo>
                    <a:pt x="5715" y="1581150"/>
                    <a:pt x="0" y="1575435"/>
                    <a:pt x="0" y="15684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8450"/>
                  </a:lnTo>
                  <a:lnTo>
                    <a:pt x="12700" y="1568450"/>
                  </a:lnTo>
                  <a:lnTo>
                    <a:pt x="12700" y="1555750"/>
                  </a:lnTo>
                  <a:lnTo>
                    <a:pt x="10627995" y="1555750"/>
                  </a:lnTo>
                  <a:lnTo>
                    <a:pt x="10627995" y="1568450"/>
                  </a:lnTo>
                  <a:lnTo>
                    <a:pt x="10615295" y="1568450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8137" y="2882608"/>
            <a:ext cx="82363" cy="1166774"/>
            <a:chOff x="0" y="0"/>
            <a:chExt cx="109817" cy="15556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85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22930" y="2986316"/>
            <a:ext cx="722955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Échec création commande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2930" y="3513258"/>
            <a:ext cx="7229551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Correction eager loading et enum de statut de paiement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8603" y="4218299"/>
            <a:ext cx="7980569" cy="1185834"/>
            <a:chOff x="0" y="0"/>
            <a:chExt cx="10640758" cy="15811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1061529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40695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1568450"/>
                  </a:lnTo>
                  <a:cubicBezTo>
                    <a:pt x="10640695" y="1575435"/>
                    <a:pt x="10634980" y="1581150"/>
                    <a:pt x="10627995" y="1581150"/>
                  </a:cubicBezTo>
                  <a:lnTo>
                    <a:pt x="12700" y="1581150"/>
                  </a:lnTo>
                  <a:cubicBezTo>
                    <a:pt x="5715" y="1581150"/>
                    <a:pt x="0" y="1575435"/>
                    <a:pt x="0" y="15684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8450"/>
                  </a:lnTo>
                  <a:lnTo>
                    <a:pt x="12700" y="1568450"/>
                  </a:lnTo>
                  <a:lnTo>
                    <a:pt x="12700" y="1555750"/>
                  </a:lnTo>
                  <a:lnTo>
                    <a:pt x="10627995" y="1555750"/>
                  </a:lnTo>
                  <a:lnTo>
                    <a:pt x="10627995" y="1568450"/>
                  </a:lnTo>
                  <a:lnTo>
                    <a:pt x="10615295" y="1568450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8137" y="4227833"/>
            <a:ext cx="82363" cy="1166774"/>
            <a:chOff x="0" y="0"/>
            <a:chExt cx="109817" cy="15556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85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22930" y="4331541"/>
            <a:ext cx="722955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Grille produits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2930" y="4858474"/>
            <a:ext cx="7229551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Correction des breakpoints responsive pour utilisateurs non connectés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8603" y="5563514"/>
            <a:ext cx="7980569" cy="1185834"/>
            <a:chOff x="0" y="0"/>
            <a:chExt cx="10640758" cy="15811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1061529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40695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1568450"/>
                  </a:lnTo>
                  <a:cubicBezTo>
                    <a:pt x="10640695" y="1575435"/>
                    <a:pt x="10634980" y="1581150"/>
                    <a:pt x="10627995" y="1581150"/>
                  </a:cubicBezTo>
                  <a:lnTo>
                    <a:pt x="12700" y="1581150"/>
                  </a:lnTo>
                  <a:cubicBezTo>
                    <a:pt x="5715" y="1581150"/>
                    <a:pt x="0" y="1575435"/>
                    <a:pt x="0" y="15684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8450"/>
                  </a:lnTo>
                  <a:lnTo>
                    <a:pt x="12700" y="1568450"/>
                  </a:lnTo>
                  <a:lnTo>
                    <a:pt x="12700" y="1555750"/>
                  </a:lnTo>
                  <a:lnTo>
                    <a:pt x="10627995" y="1555750"/>
                  </a:lnTo>
                  <a:lnTo>
                    <a:pt x="10627995" y="1568450"/>
                  </a:lnTo>
                  <a:lnTo>
                    <a:pt x="10615295" y="1568450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8137" y="5573049"/>
            <a:ext cx="82363" cy="1166774"/>
            <a:chOff x="0" y="0"/>
            <a:chExt cx="109817" cy="15556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5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22930" y="5676757"/>
            <a:ext cx="722955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Vue d'édition manquante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2930" y="6203699"/>
            <a:ext cx="7229551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Création de products-edit.blade.php avec formulaires pré-remplis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88603" y="6908740"/>
            <a:ext cx="7980569" cy="1185834"/>
            <a:chOff x="0" y="0"/>
            <a:chExt cx="10640758" cy="15811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1061529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40695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1568450"/>
                  </a:lnTo>
                  <a:cubicBezTo>
                    <a:pt x="10640695" y="1575435"/>
                    <a:pt x="10634980" y="1581150"/>
                    <a:pt x="10627995" y="1581150"/>
                  </a:cubicBezTo>
                  <a:lnTo>
                    <a:pt x="12700" y="1581150"/>
                  </a:lnTo>
                  <a:cubicBezTo>
                    <a:pt x="5715" y="1581150"/>
                    <a:pt x="0" y="1575435"/>
                    <a:pt x="0" y="15684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8450"/>
                  </a:lnTo>
                  <a:lnTo>
                    <a:pt x="12700" y="1568450"/>
                  </a:lnTo>
                  <a:lnTo>
                    <a:pt x="12700" y="1555750"/>
                  </a:lnTo>
                  <a:lnTo>
                    <a:pt x="10627995" y="1555750"/>
                  </a:lnTo>
                  <a:lnTo>
                    <a:pt x="10627995" y="1568450"/>
                  </a:lnTo>
                  <a:lnTo>
                    <a:pt x="10615295" y="1568450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98137" y="6918265"/>
            <a:ext cx="82363" cy="1166774"/>
            <a:chOff x="0" y="0"/>
            <a:chExt cx="109817" cy="15556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5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22930" y="7021973"/>
            <a:ext cx="722955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Affichage devise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2930" y="7548915"/>
            <a:ext cx="7229551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Standardisation en MAD sur toutes les vues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88603" y="8253955"/>
            <a:ext cx="7980569" cy="1185834"/>
            <a:chOff x="0" y="0"/>
            <a:chExt cx="10640758" cy="15811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1061529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40695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640695">
                  <a:moveTo>
                    <a:pt x="12700" y="0"/>
                  </a:moveTo>
                  <a:lnTo>
                    <a:pt x="10627995" y="0"/>
                  </a:lnTo>
                  <a:cubicBezTo>
                    <a:pt x="10634980" y="0"/>
                    <a:pt x="10640695" y="5715"/>
                    <a:pt x="10640695" y="12700"/>
                  </a:cubicBezTo>
                  <a:lnTo>
                    <a:pt x="10640695" y="1568450"/>
                  </a:lnTo>
                  <a:cubicBezTo>
                    <a:pt x="10640695" y="1575435"/>
                    <a:pt x="10634980" y="1581150"/>
                    <a:pt x="10627995" y="1581150"/>
                  </a:cubicBezTo>
                  <a:lnTo>
                    <a:pt x="12700" y="1581150"/>
                  </a:lnTo>
                  <a:cubicBezTo>
                    <a:pt x="5715" y="1581150"/>
                    <a:pt x="0" y="1575435"/>
                    <a:pt x="0" y="15684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8450"/>
                  </a:lnTo>
                  <a:lnTo>
                    <a:pt x="12700" y="1568450"/>
                  </a:lnTo>
                  <a:lnTo>
                    <a:pt x="12700" y="1555750"/>
                  </a:lnTo>
                  <a:lnTo>
                    <a:pt x="10627995" y="1555750"/>
                  </a:lnTo>
                  <a:lnTo>
                    <a:pt x="10627995" y="1568450"/>
                  </a:lnTo>
                  <a:lnTo>
                    <a:pt x="10615295" y="1568450"/>
                  </a:lnTo>
                  <a:lnTo>
                    <a:pt x="10615295" y="12700"/>
                  </a:lnTo>
                  <a:lnTo>
                    <a:pt x="10627995" y="12700"/>
                  </a:lnTo>
                  <a:lnTo>
                    <a:pt x="106279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98137" y="8263490"/>
            <a:ext cx="82363" cy="1166774"/>
            <a:chOff x="0" y="0"/>
            <a:chExt cx="109817" cy="15556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855" cy="1555750"/>
            </a:xfrm>
            <a:custGeom>
              <a:avLst/>
              <a:gdLst/>
              <a:ahLst/>
              <a:cxnLst/>
              <a:rect r="r" b="b" t="t" l="l"/>
              <a:pathLst>
                <a:path h="155575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22930" y="8367198"/>
            <a:ext cx="7229551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Erreur CartHelper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2930" y="8894131"/>
            <a:ext cx="7229551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Remplacement par requête directe dans le contrôleur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540069" y="1853108"/>
            <a:ext cx="8098765" cy="823608"/>
            <a:chOff x="0" y="0"/>
            <a:chExt cx="10798353" cy="10981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98302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837410" y="1947291"/>
            <a:ext cx="7504081" cy="61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▶  Phase 2 — Améliorations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530544" y="2873083"/>
            <a:ext cx="8117834" cy="870118"/>
            <a:chOff x="0" y="0"/>
            <a:chExt cx="10823778" cy="11601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10798429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823829" cy="1160145"/>
            </a:xfrm>
            <a:custGeom>
              <a:avLst/>
              <a:gdLst/>
              <a:ahLst/>
              <a:cxnLst/>
              <a:rect r="r" b="b" t="t" l="l"/>
              <a:pathLst>
                <a:path h="1160145" w="10823829">
                  <a:moveTo>
                    <a:pt x="12700" y="0"/>
                  </a:moveTo>
                  <a:lnTo>
                    <a:pt x="10811129" y="0"/>
                  </a:lnTo>
                  <a:cubicBezTo>
                    <a:pt x="10818114" y="0"/>
                    <a:pt x="10823829" y="5715"/>
                    <a:pt x="10823829" y="12700"/>
                  </a:cubicBezTo>
                  <a:lnTo>
                    <a:pt x="10823829" y="1147445"/>
                  </a:lnTo>
                  <a:cubicBezTo>
                    <a:pt x="10823829" y="1154430"/>
                    <a:pt x="10818114" y="1160145"/>
                    <a:pt x="10811129" y="1160145"/>
                  </a:cubicBezTo>
                  <a:lnTo>
                    <a:pt x="12700" y="1160145"/>
                  </a:lnTo>
                  <a:cubicBezTo>
                    <a:pt x="5715" y="1160145"/>
                    <a:pt x="0" y="1154430"/>
                    <a:pt x="0" y="11474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47445"/>
                  </a:lnTo>
                  <a:lnTo>
                    <a:pt x="12700" y="1147445"/>
                  </a:lnTo>
                  <a:lnTo>
                    <a:pt x="12700" y="1134745"/>
                  </a:lnTo>
                  <a:lnTo>
                    <a:pt x="10811129" y="1134745"/>
                  </a:lnTo>
                  <a:lnTo>
                    <a:pt x="10811129" y="1147445"/>
                  </a:lnTo>
                  <a:lnTo>
                    <a:pt x="10798429" y="1147445"/>
                  </a:lnTo>
                  <a:lnTo>
                    <a:pt x="10798429" y="12700"/>
                  </a:lnTo>
                  <a:lnTo>
                    <a:pt x="10811129" y="12700"/>
                  </a:lnTo>
                  <a:lnTo>
                    <a:pt x="1081112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45970" y="3184598"/>
            <a:ext cx="164725" cy="164725"/>
            <a:chOff x="0" y="0"/>
            <a:chExt cx="219634" cy="21963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139401" y="3000042"/>
            <a:ext cx="7229551" cy="59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Recherche avancée (full-text PostgreSQL)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530544" y="3902583"/>
            <a:ext cx="8117834" cy="870118"/>
            <a:chOff x="0" y="0"/>
            <a:chExt cx="10823778" cy="116015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10798429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23829" cy="1160145"/>
            </a:xfrm>
            <a:custGeom>
              <a:avLst/>
              <a:gdLst/>
              <a:ahLst/>
              <a:cxnLst/>
              <a:rect r="r" b="b" t="t" l="l"/>
              <a:pathLst>
                <a:path h="1160145" w="10823829">
                  <a:moveTo>
                    <a:pt x="12700" y="0"/>
                  </a:moveTo>
                  <a:lnTo>
                    <a:pt x="10811129" y="0"/>
                  </a:lnTo>
                  <a:cubicBezTo>
                    <a:pt x="10818114" y="0"/>
                    <a:pt x="10823829" y="5715"/>
                    <a:pt x="10823829" y="12700"/>
                  </a:cubicBezTo>
                  <a:lnTo>
                    <a:pt x="10823829" y="1147445"/>
                  </a:lnTo>
                  <a:cubicBezTo>
                    <a:pt x="10823829" y="1154430"/>
                    <a:pt x="10818114" y="1160145"/>
                    <a:pt x="10811129" y="1160145"/>
                  </a:cubicBezTo>
                  <a:lnTo>
                    <a:pt x="12700" y="1160145"/>
                  </a:lnTo>
                  <a:cubicBezTo>
                    <a:pt x="5715" y="1160145"/>
                    <a:pt x="0" y="1154430"/>
                    <a:pt x="0" y="11474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47445"/>
                  </a:lnTo>
                  <a:lnTo>
                    <a:pt x="12700" y="1147445"/>
                  </a:lnTo>
                  <a:lnTo>
                    <a:pt x="12700" y="1134745"/>
                  </a:lnTo>
                  <a:lnTo>
                    <a:pt x="10811129" y="1134745"/>
                  </a:lnTo>
                  <a:lnTo>
                    <a:pt x="10811129" y="1147445"/>
                  </a:lnTo>
                  <a:lnTo>
                    <a:pt x="10798429" y="1147445"/>
                  </a:lnTo>
                  <a:lnTo>
                    <a:pt x="10798429" y="12700"/>
                  </a:lnTo>
                  <a:lnTo>
                    <a:pt x="10811129" y="12700"/>
                  </a:lnTo>
                  <a:lnTo>
                    <a:pt x="1081112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45970" y="4214108"/>
            <a:ext cx="164725" cy="164725"/>
            <a:chOff x="0" y="0"/>
            <a:chExt cx="219634" cy="2196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0139401" y="4029551"/>
            <a:ext cx="7229551" cy="59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Fonctionnalités temps réel (WebSockets)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530544" y="4932093"/>
            <a:ext cx="8117834" cy="870118"/>
            <a:chOff x="0" y="0"/>
            <a:chExt cx="10823778" cy="116015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10798429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823829" cy="1160145"/>
            </a:xfrm>
            <a:custGeom>
              <a:avLst/>
              <a:gdLst/>
              <a:ahLst/>
              <a:cxnLst/>
              <a:rect r="r" b="b" t="t" l="l"/>
              <a:pathLst>
                <a:path h="1160145" w="10823829">
                  <a:moveTo>
                    <a:pt x="12700" y="0"/>
                  </a:moveTo>
                  <a:lnTo>
                    <a:pt x="10811129" y="0"/>
                  </a:lnTo>
                  <a:cubicBezTo>
                    <a:pt x="10818114" y="0"/>
                    <a:pt x="10823829" y="5715"/>
                    <a:pt x="10823829" y="12700"/>
                  </a:cubicBezTo>
                  <a:lnTo>
                    <a:pt x="10823829" y="1147445"/>
                  </a:lnTo>
                  <a:cubicBezTo>
                    <a:pt x="10823829" y="1154430"/>
                    <a:pt x="10818114" y="1160145"/>
                    <a:pt x="10811129" y="1160145"/>
                  </a:cubicBezTo>
                  <a:lnTo>
                    <a:pt x="12700" y="1160145"/>
                  </a:lnTo>
                  <a:cubicBezTo>
                    <a:pt x="5715" y="1160145"/>
                    <a:pt x="0" y="1154430"/>
                    <a:pt x="0" y="11474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47445"/>
                  </a:lnTo>
                  <a:lnTo>
                    <a:pt x="12700" y="1147445"/>
                  </a:lnTo>
                  <a:lnTo>
                    <a:pt x="12700" y="1134745"/>
                  </a:lnTo>
                  <a:lnTo>
                    <a:pt x="10811129" y="1134745"/>
                  </a:lnTo>
                  <a:lnTo>
                    <a:pt x="10811129" y="1147445"/>
                  </a:lnTo>
                  <a:lnTo>
                    <a:pt x="10798429" y="1147445"/>
                  </a:lnTo>
                  <a:lnTo>
                    <a:pt x="10798429" y="12700"/>
                  </a:lnTo>
                  <a:lnTo>
                    <a:pt x="10811129" y="12700"/>
                  </a:lnTo>
                  <a:lnTo>
                    <a:pt x="1081112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745970" y="5243608"/>
            <a:ext cx="164725" cy="164725"/>
            <a:chOff x="0" y="0"/>
            <a:chExt cx="219634" cy="21963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0139401" y="5059051"/>
            <a:ext cx="7229551" cy="59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Tableau de bord analytique pour vendeurs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530544" y="5961593"/>
            <a:ext cx="8117834" cy="870118"/>
            <a:chOff x="0" y="0"/>
            <a:chExt cx="10823778" cy="116015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10798429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823829" cy="1160145"/>
            </a:xfrm>
            <a:custGeom>
              <a:avLst/>
              <a:gdLst/>
              <a:ahLst/>
              <a:cxnLst/>
              <a:rect r="r" b="b" t="t" l="l"/>
              <a:pathLst>
                <a:path h="1160145" w="10823829">
                  <a:moveTo>
                    <a:pt x="12700" y="0"/>
                  </a:moveTo>
                  <a:lnTo>
                    <a:pt x="10811129" y="0"/>
                  </a:lnTo>
                  <a:cubicBezTo>
                    <a:pt x="10818114" y="0"/>
                    <a:pt x="10823829" y="5715"/>
                    <a:pt x="10823829" y="12700"/>
                  </a:cubicBezTo>
                  <a:lnTo>
                    <a:pt x="10823829" y="1147445"/>
                  </a:lnTo>
                  <a:cubicBezTo>
                    <a:pt x="10823829" y="1154430"/>
                    <a:pt x="10818114" y="1160145"/>
                    <a:pt x="10811129" y="1160145"/>
                  </a:cubicBezTo>
                  <a:lnTo>
                    <a:pt x="12700" y="1160145"/>
                  </a:lnTo>
                  <a:cubicBezTo>
                    <a:pt x="5715" y="1160145"/>
                    <a:pt x="0" y="1154430"/>
                    <a:pt x="0" y="11474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47445"/>
                  </a:lnTo>
                  <a:lnTo>
                    <a:pt x="12700" y="1147445"/>
                  </a:lnTo>
                  <a:lnTo>
                    <a:pt x="12700" y="1134745"/>
                  </a:lnTo>
                  <a:lnTo>
                    <a:pt x="10811129" y="1134745"/>
                  </a:lnTo>
                  <a:lnTo>
                    <a:pt x="10811129" y="1147445"/>
                  </a:lnTo>
                  <a:lnTo>
                    <a:pt x="10798429" y="1147445"/>
                  </a:lnTo>
                  <a:lnTo>
                    <a:pt x="10798429" y="12700"/>
                  </a:lnTo>
                  <a:lnTo>
                    <a:pt x="10811129" y="12700"/>
                  </a:lnTo>
                  <a:lnTo>
                    <a:pt x="1081112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745970" y="6273108"/>
            <a:ext cx="164725" cy="164725"/>
            <a:chOff x="0" y="0"/>
            <a:chExt cx="219634" cy="21963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0139401" y="6088561"/>
            <a:ext cx="7229551" cy="59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 mobile React Native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530544" y="6991093"/>
            <a:ext cx="8117834" cy="870118"/>
            <a:chOff x="0" y="0"/>
            <a:chExt cx="10823778" cy="116015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10798429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823829" cy="1160145"/>
            </a:xfrm>
            <a:custGeom>
              <a:avLst/>
              <a:gdLst/>
              <a:ahLst/>
              <a:cxnLst/>
              <a:rect r="r" b="b" t="t" l="l"/>
              <a:pathLst>
                <a:path h="1160145" w="10823829">
                  <a:moveTo>
                    <a:pt x="12700" y="0"/>
                  </a:moveTo>
                  <a:lnTo>
                    <a:pt x="10811129" y="0"/>
                  </a:lnTo>
                  <a:cubicBezTo>
                    <a:pt x="10818114" y="0"/>
                    <a:pt x="10823829" y="5715"/>
                    <a:pt x="10823829" y="12700"/>
                  </a:cubicBezTo>
                  <a:lnTo>
                    <a:pt x="10823829" y="1147445"/>
                  </a:lnTo>
                  <a:cubicBezTo>
                    <a:pt x="10823829" y="1154430"/>
                    <a:pt x="10818114" y="1160145"/>
                    <a:pt x="10811129" y="1160145"/>
                  </a:cubicBezTo>
                  <a:lnTo>
                    <a:pt x="12700" y="1160145"/>
                  </a:lnTo>
                  <a:cubicBezTo>
                    <a:pt x="5715" y="1160145"/>
                    <a:pt x="0" y="1154430"/>
                    <a:pt x="0" y="11474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47445"/>
                  </a:lnTo>
                  <a:lnTo>
                    <a:pt x="12700" y="1147445"/>
                  </a:lnTo>
                  <a:lnTo>
                    <a:pt x="12700" y="1134745"/>
                  </a:lnTo>
                  <a:lnTo>
                    <a:pt x="10811129" y="1134745"/>
                  </a:lnTo>
                  <a:lnTo>
                    <a:pt x="10811129" y="1147445"/>
                  </a:lnTo>
                  <a:lnTo>
                    <a:pt x="10798429" y="1147445"/>
                  </a:lnTo>
                  <a:lnTo>
                    <a:pt x="10798429" y="12700"/>
                  </a:lnTo>
                  <a:lnTo>
                    <a:pt x="10811129" y="12700"/>
                  </a:lnTo>
                  <a:lnTo>
                    <a:pt x="1081112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745970" y="7302617"/>
            <a:ext cx="164725" cy="164725"/>
            <a:chOff x="0" y="0"/>
            <a:chExt cx="219634" cy="21963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0139401" y="7118061"/>
            <a:ext cx="7229551" cy="59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multilingue (Arabe &amp; Français)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530544" y="8020602"/>
            <a:ext cx="8117834" cy="870118"/>
            <a:chOff x="0" y="0"/>
            <a:chExt cx="10823778" cy="116015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2700" y="12700"/>
              <a:ext cx="10798429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823829" cy="1160145"/>
            </a:xfrm>
            <a:custGeom>
              <a:avLst/>
              <a:gdLst/>
              <a:ahLst/>
              <a:cxnLst/>
              <a:rect r="r" b="b" t="t" l="l"/>
              <a:pathLst>
                <a:path h="1160145" w="10823829">
                  <a:moveTo>
                    <a:pt x="12700" y="0"/>
                  </a:moveTo>
                  <a:lnTo>
                    <a:pt x="10811129" y="0"/>
                  </a:lnTo>
                  <a:cubicBezTo>
                    <a:pt x="10818114" y="0"/>
                    <a:pt x="10823829" y="5715"/>
                    <a:pt x="10823829" y="12700"/>
                  </a:cubicBezTo>
                  <a:lnTo>
                    <a:pt x="10823829" y="1147445"/>
                  </a:lnTo>
                  <a:cubicBezTo>
                    <a:pt x="10823829" y="1154430"/>
                    <a:pt x="10818114" y="1160145"/>
                    <a:pt x="10811129" y="1160145"/>
                  </a:cubicBezTo>
                  <a:lnTo>
                    <a:pt x="12700" y="1160145"/>
                  </a:lnTo>
                  <a:cubicBezTo>
                    <a:pt x="5715" y="1160145"/>
                    <a:pt x="0" y="1154430"/>
                    <a:pt x="0" y="11474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47445"/>
                  </a:lnTo>
                  <a:lnTo>
                    <a:pt x="12700" y="1147445"/>
                  </a:lnTo>
                  <a:lnTo>
                    <a:pt x="12700" y="1134745"/>
                  </a:lnTo>
                  <a:lnTo>
                    <a:pt x="10811129" y="1134745"/>
                  </a:lnTo>
                  <a:lnTo>
                    <a:pt x="10811129" y="1147445"/>
                  </a:lnTo>
                  <a:lnTo>
                    <a:pt x="10798429" y="1147445"/>
                  </a:lnTo>
                  <a:lnTo>
                    <a:pt x="10798429" y="12700"/>
                  </a:lnTo>
                  <a:lnTo>
                    <a:pt x="10811129" y="12700"/>
                  </a:lnTo>
                  <a:lnTo>
                    <a:pt x="1081112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745970" y="8332118"/>
            <a:ext cx="164725" cy="164725"/>
            <a:chOff x="0" y="0"/>
            <a:chExt cx="219634" cy="21963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0139401" y="8147571"/>
            <a:ext cx="7229551" cy="59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Webhooks Stripe &amp; méthodes de paiement multiples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530544" y="9050103"/>
            <a:ext cx="8117834" cy="870118"/>
            <a:chOff x="0" y="0"/>
            <a:chExt cx="10823778" cy="116015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10798429" cy="1134745"/>
            </a:xfrm>
            <a:custGeom>
              <a:avLst/>
              <a:gdLst/>
              <a:ahLst/>
              <a:cxnLst/>
              <a:rect r="r" b="b" t="t" l="l"/>
              <a:pathLst>
                <a:path h="1134745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823829" cy="1160145"/>
            </a:xfrm>
            <a:custGeom>
              <a:avLst/>
              <a:gdLst/>
              <a:ahLst/>
              <a:cxnLst/>
              <a:rect r="r" b="b" t="t" l="l"/>
              <a:pathLst>
                <a:path h="1160145" w="10823829">
                  <a:moveTo>
                    <a:pt x="12700" y="0"/>
                  </a:moveTo>
                  <a:lnTo>
                    <a:pt x="10811129" y="0"/>
                  </a:lnTo>
                  <a:cubicBezTo>
                    <a:pt x="10818114" y="0"/>
                    <a:pt x="10823829" y="5715"/>
                    <a:pt x="10823829" y="12700"/>
                  </a:cubicBezTo>
                  <a:lnTo>
                    <a:pt x="10823829" y="1147445"/>
                  </a:lnTo>
                  <a:cubicBezTo>
                    <a:pt x="10823829" y="1154430"/>
                    <a:pt x="10818114" y="1160145"/>
                    <a:pt x="10811129" y="1160145"/>
                  </a:cubicBezTo>
                  <a:lnTo>
                    <a:pt x="12700" y="1160145"/>
                  </a:lnTo>
                  <a:cubicBezTo>
                    <a:pt x="5715" y="1160145"/>
                    <a:pt x="0" y="1154430"/>
                    <a:pt x="0" y="11474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47445"/>
                  </a:lnTo>
                  <a:lnTo>
                    <a:pt x="12700" y="1147445"/>
                  </a:lnTo>
                  <a:lnTo>
                    <a:pt x="12700" y="1134745"/>
                  </a:lnTo>
                  <a:lnTo>
                    <a:pt x="10811129" y="1134745"/>
                  </a:lnTo>
                  <a:lnTo>
                    <a:pt x="10811129" y="1147445"/>
                  </a:lnTo>
                  <a:lnTo>
                    <a:pt x="10798429" y="1147445"/>
                  </a:lnTo>
                  <a:lnTo>
                    <a:pt x="10798429" y="12700"/>
                  </a:lnTo>
                  <a:lnTo>
                    <a:pt x="10811129" y="12700"/>
                  </a:lnTo>
                  <a:lnTo>
                    <a:pt x="1081112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45970" y="9361627"/>
            <a:ext cx="164725" cy="164725"/>
            <a:chOff x="0" y="0"/>
            <a:chExt cx="219634" cy="21963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0139401" y="9177071"/>
            <a:ext cx="7229551" cy="59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Fonctionnalités sociales (liste de souhaits, partage)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86333" cy="10295039"/>
            <a:chOff x="0" y="0"/>
            <a:chExt cx="915111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54049" y="-686333"/>
            <a:ext cx="6863363" cy="6863363"/>
            <a:chOff x="0" y="0"/>
            <a:chExt cx="9151150" cy="9151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1112" cy="9151112"/>
            </a:xfrm>
            <a:custGeom>
              <a:avLst/>
              <a:gdLst/>
              <a:ahLst/>
              <a:cxnLst/>
              <a:rect r="r" b="b" t="t" l="l"/>
              <a:pathLst>
                <a:path h="9151112" w="9151112">
                  <a:moveTo>
                    <a:pt x="0" y="4575556"/>
                  </a:moveTo>
                  <a:cubicBezTo>
                    <a:pt x="0" y="2048510"/>
                    <a:pt x="2048510" y="0"/>
                    <a:pt x="4575556" y="0"/>
                  </a:cubicBezTo>
                  <a:cubicBezTo>
                    <a:pt x="7102602" y="0"/>
                    <a:pt x="9151112" y="2048510"/>
                    <a:pt x="9151112" y="4575556"/>
                  </a:cubicBezTo>
                  <a:cubicBezTo>
                    <a:pt x="9151112" y="7102602"/>
                    <a:pt x="7102602" y="9151112"/>
                    <a:pt x="4575556" y="9151112"/>
                  </a:cubicBezTo>
                  <a:cubicBezTo>
                    <a:pt x="2048510" y="9151112"/>
                    <a:pt x="0" y="7102602"/>
                    <a:pt x="0" y="4575556"/>
                  </a:cubicBezTo>
                  <a:close/>
                </a:path>
              </a:pathLst>
            </a:custGeom>
            <a:solidFill>
              <a:srgbClr val="2A2A4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1096232"/>
            <a:ext cx="13543845" cy="71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CC001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736903"/>
            <a:ext cx="13543845" cy="158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7"/>
              </a:lnSpc>
            </a:pPr>
            <a:r>
              <a:rPr lang="en-US" sz="780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GetClose est Prêt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8137" y="3568951"/>
            <a:ext cx="4804353" cy="1372676"/>
            <a:chOff x="0" y="0"/>
            <a:chExt cx="6405804" cy="1830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5753" cy="1830197"/>
            </a:xfrm>
            <a:custGeom>
              <a:avLst/>
              <a:gdLst/>
              <a:ahLst/>
              <a:cxnLst/>
              <a:rect r="r" b="b" t="t" l="l"/>
              <a:pathLst>
                <a:path h="1830197" w="6405753">
                  <a:moveTo>
                    <a:pt x="0" y="0"/>
                  </a:moveTo>
                  <a:lnTo>
                    <a:pt x="6405753" y="0"/>
                  </a:lnTo>
                  <a:lnTo>
                    <a:pt x="6405753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9577" y="3712712"/>
            <a:ext cx="4621473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Complété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9577" y="5204727"/>
            <a:ext cx="13543845" cy="161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CCCDD"/>
                </a:solidFill>
                <a:latin typeface="Calibri (MS)"/>
                <a:ea typeface="Calibri (MS)"/>
                <a:cs typeface="Calibri (MS)"/>
                <a:sym typeface="Calibri (MS)"/>
              </a:rPr>
              <a:t>La plateforme GetClose réalise avec succès l'ensemble des objectifs définis 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CCCDD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authentification, gestion des boutiques, paiements, commandes, finances vendeurs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CCCDD"/>
                </a:solidFill>
                <a:latin typeface="Calibri (MS)"/>
                <a:ea typeface="Calibri (MS)"/>
                <a:cs typeface="Calibri (MS)"/>
                <a:sym typeface="Calibri (MS)"/>
              </a:rPr>
              <a:t>et administration — le tout dans un design responsive et mobile-first.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8137" y="7000627"/>
            <a:ext cx="3843480" cy="2059010"/>
            <a:chOff x="0" y="0"/>
            <a:chExt cx="5124640" cy="27453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4704" cy="2745359"/>
            </a:xfrm>
            <a:custGeom>
              <a:avLst/>
              <a:gdLst/>
              <a:ahLst/>
              <a:cxnLst/>
              <a:rect r="r" b="b" t="t" l="l"/>
              <a:pathLst>
                <a:path h="2745359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A2A4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26842" y="7163448"/>
            <a:ext cx="3386071" cy="160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 modules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complets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353421" y="7000627"/>
            <a:ext cx="3843480" cy="2059010"/>
            <a:chOff x="0" y="0"/>
            <a:chExt cx="5124640" cy="27453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4704" cy="2745359"/>
            </a:xfrm>
            <a:custGeom>
              <a:avLst/>
              <a:gdLst/>
              <a:ahLst/>
              <a:cxnLst/>
              <a:rect r="r" b="b" t="t" l="l"/>
              <a:pathLst>
                <a:path h="2745359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A2A4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582126" y="7163448"/>
            <a:ext cx="3386071" cy="160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85+ routes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déployées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8706" y="7000627"/>
            <a:ext cx="3843480" cy="2059010"/>
            <a:chOff x="0" y="0"/>
            <a:chExt cx="5124640" cy="27453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4704" cy="2745359"/>
            </a:xfrm>
            <a:custGeom>
              <a:avLst/>
              <a:gdLst/>
              <a:ahLst/>
              <a:cxnLst/>
              <a:rect r="r" b="b" t="t" l="l"/>
              <a:pathLst>
                <a:path h="2745359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A2A4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837410" y="7163448"/>
            <a:ext cx="3386071" cy="160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 tables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863990" y="7000627"/>
            <a:ext cx="3843480" cy="2059010"/>
            <a:chOff x="0" y="0"/>
            <a:chExt cx="5124640" cy="27453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4704" cy="2745359"/>
            </a:xfrm>
            <a:custGeom>
              <a:avLst/>
              <a:gdLst/>
              <a:ahLst/>
              <a:cxnLst/>
              <a:rect r="r" b="b" t="t" l="l"/>
              <a:pathLst>
                <a:path h="2745359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A2A4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092695" y="7163448"/>
            <a:ext cx="3386071" cy="160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Paiement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Stripe intégré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98137" y="9471441"/>
            <a:ext cx="16060264" cy="54912"/>
            <a:chOff x="0" y="0"/>
            <a:chExt cx="21413686" cy="73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13724" cy="73152"/>
            </a:xfrm>
            <a:custGeom>
              <a:avLst/>
              <a:gdLst/>
              <a:ahLst/>
              <a:cxnLst/>
              <a:rect r="r" b="b" t="t" l="l"/>
              <a:pathLst>
                <a:path h="73152" w="21413724">
                  <a:moveTo>
                    <a:pt x="0" y="0"/>
                  </a:moveTo>
                  <a:lnTo>
                    <a:pt x="21413724" y="0"/>
                  </a:lnTo>
                  <a:lnTo>
                    <a:pt x="2141372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CC0011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89577" y="9538164"/>
            <a:ext cx="15877384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i="true">
                <a:solidFill>
                  <a:srgbClr val="99888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GetClose — Rapprocher les vendeurs de leurs clients  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DAHIJpReTK8</dc:identifier>
  <dcterms:modified xsi:type="dcterms:W3CDTF">2011-08-01T06:04:30Z</dcterms:modified>
  <cp:revision>1</cp:revision>
  <dc:title>GetClose_Presentation_FR</dc:title>
</cp:coreProperties>
</file>